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pt-PT"/>
    </a:defPPr>
    <a:lvl1pPr marL="0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1pPr>
    <a:lvl2pPr marL="1891985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2pPr>
    <a:lvl3pPr marL="3783970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3pPr>
    <a:lvl4pPr marL="5675955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4pPr>
    <a:lvl5pPr marL="7567940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5pPr>
    <a:lvl6pPr marL="9459925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6pPr>
    <a:lvl7pPr marL="11351910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7pPr>
    <a:lvl8pPr marL="13243895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8pPr>
    <a:lvl9pPr marL="15135880" algn="l" defTabSz="3783970" rtl="0" eaLnBrk="1" latinLnBrk="0" hangingPunct="1">
      <a:defRPr sz="74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>
        <p:scale>
          <a:sx n="50" d="100"/>
          <a:sy n="50" d="100"/>
        </p:scale>
        <p:origin x="-258" y="-6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pt-PT"/>
              <a:t>Faça 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574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170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716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632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20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6380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946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397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876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617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572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C4FD-9E2D-4F5B-B995-A15615531731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32D10-DCEA-4110-BF70-5172E6C99C8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493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411" y="769058"/>
            <a:ext cx="6217666" cy="621766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70640" y="2971799"/>
            <a:ext cx="25733931" cy="2195993"/>
          </a:xfrm>
        </p:spPr>
        <p:txBody>
          <a:bodyPr>
            <a:normAutofit/>
          </a:bodyPr>
          <a:lstStyle/>
          <a:p>
            <a:r>
              <a:rPr lang="pt-PT" sz="12000" b="1" dirty="0"/>
              <a:t>YOURKITCHEN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784401" y="1257300"/>
            <a:ext cx="22706410" cy="1714499"/>
          </a:xfrm>
        </p:spPr>
        <p:txBody>
          <a:bodyPr>
            <a:normAutofit fontScale="85000" lnSpcReduction="20000"/>
          </a:bodyPr>
          <a:lstStyle/>
          <a:p>
            <a:r>
              <a:rPr lang="pt-PT" sz="6000" dirty="0"/>
              <a:t>Licenciatura em Engenharia Informática</a:t>
            </a:r>
          </a:p>
          <a:p>
            <a:r>
              <a:rPr lang="pt-PT" sz="6000" dirty="0"/>
              <a:t>Projeto em Engenharia Informática 2025/2026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84" y="39620670"/>
            <a:ext cx="3842412" cy="3888155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2270639" y="4009315"/>
            <a:ext cx="25733931" cy="2195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5400" b="1" dirty="0"/>
              <a:t>POS, KDS e BackOffice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0365047" y="40945730"/>
            <a:ext cx="95451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000" dirty="0"/>
              <a:t>Escola de Ciências e Tecnologia</a:t>
            </a:r>
          </a:p>
          <a:p>
            <a:r>
              <a:rPr lang="pt-PT" sz="4000" dirty="0"/>
              <a:t>Universidade de Trás os Montes e Alto Douro</a:t>
            </a:r>
          </a:p>
        </p:txBody>
      </p:sp>
      <p:sp>
        <p:nvSpPr>
          <p:cNvPr id="12" name="Subtítulo 2"/>
          <p:cNvSpPr txBox="1">
            <a:spLocks/>
          </p:cNvSpPr>
          <p:nvPr/>
        </p:nvSpPr>
        <p:spPr>
          <a:xfrm>
            <a:off x="3784401" y="6986724"/>
            <a:ext cx="22706410" cy="171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13743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748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41230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5497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56871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82461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59620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09948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000"/>
              <a:t>Jorge Teixeira (al81547)</a:t>
            </a:r>
            <a:endParaRPr lang="pt-PT" sz="6000" dirty="0"/>
          </a:p>
          <a:p>
            <a:endParaRPr lang="pt-PT" sz="60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617481" y="9326880"/>
            <a:ext cx="12344400" cy="291054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 dirty="0" err="1">
                <a:solidFill>
                  <a:srgbClr val="0F5366"/>
                </a:solidFill>
              </a:rPr>
              <a:t>Introdução</a:t>
            </a:r>
            <a:endParaRPr sz="4600" b="1" dirty="0">
              <a:solidFill>
                <a:srgbClr val="0F5366"/>
              </a:solidFill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3500" b="0" dirty="0">
                <a:solidFill>
                  <a:srgbClr val="1A1A1A"/>
                </a:solidFill>
              </a:rPr>
              <a:t>A </a:t>
            </a:r>
            <a:r>
              <a:rPr sz="3500" b="0" dirty="0" err="1">
                <a:solidFill>
                  <a:srgbClr val="1A1A1A"/>
                </a:solidFill>
              </a:rPr>
              <a:t>restauração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vive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velocidade</a:t>
            </a:r>
            <a:r>
              <a:rPr sz="3500" b="0" dirty="0">
                <a:solidFill>
                  <a:srgbClr val="1A1A1A"/>
                </a:solidFill>
              </a:rPr>
              <a:t> e de </a:t>
            </a:r>
            <a:r>
              <a:rPr sz="3500" b="0" dirty="0" err="1">
                <a:solidFill>
                  <a:srgbClr val="1A1A1A"/>
                </a:solidFill>
              </a:rPr>
              <a:t>comunicação</a:t>
            </a:r>
            <a:r>
              <a:rPr sz="3500" b="0" dirty="0">
                <a:solidFill>
                  <a:srgbClr val="1A1A1A"/>
                </a:solidFill>
              </a:rPr>
              <a:t> entre a sala e a </a:t>
            </a:r>
            <a:r>
              <a:rPr sz="3500" b="0" dirty="0" err="1">
                <a:solidFill>
                  <a:srgbClr val="1A1A1A"/>
                </a:solidFill>
              </a:rPr>
              <a:t>cozinha</a:t>
            </a:r>
            <a:r>
              <a:rPr sz="3500" b="0" dirty="0">
                <a:solidFill>
                  <a:srgbClr val="1A1A1A"/>
                </a:solidFill>
              </a:rPr>
              <a:t>. O </a:t>
            </a:r>
            <a:r>
              <a:rPr sz="3500" b="0" dirty="0" err="1">
                <a:solidFill>
                  <a:srgbClr val="1A1A1A"/>
                </a:solidFill>
              </a:rPr>
              <a:t>YourKitchen</a:t>
            </a:r>
            <a:r>
              <a:rPr sz="3500" b="0" dirty="0">
                <a:solidFill>
                  <a:srgbClr val="1A1A1A"/>
                </a:solidFill>
              </a:rPr>
              <a:t> é </a:t>
            </a:r>
            <a:r>
              <a:rPr sz="3500" b="0" dirty="0" err="1">
                <a:solidFill>
                  <a:srgbClr val="1A1A1A"/>
                </a:solidFill>
              </a:rPr>
              <a:t>uma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solução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multiplataforma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gestão</a:t>
            </a:r>
            <a:r>
              <a:rPr sz="3500" b="0" dirty="0">
                <a:solidFill>
                  <a:srgbClr val="1A1A1A"/>
                </a:solidFill>
              </a:rPr>
              <a:t> para </a:t>
            </a:r>
            <a:r>
              <a:rPr sz="3500" b="0" dirty="0" err="1">
                <a:solidFill>
                  <a:srgbClr val="1A1A1A"/>
                </a:solidFill>
              </a:rPr>
              <a:t>restauração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que</a:t>
            </a:r>
            <a:r>
              <a:rPr sz="3500" b="0" dirty="0">
                <a:solidFill>
                  <a:srgbClr val="1A1A1A"/>
                </a:solidFill>
              </a:rPr>
              <a:t> integra, num </a:t>
            </a:r>
            <a:r>
              <a:rPr sz="3500" b="0" dirty="0" err="1">
                <a:solidFill>
                  <a:srgbClr val="1A1A1A"/>
                </a:solidFill>
              </a:rPr>
              <a:t>só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ecossistema</a:t>
            </a:r>
            <a:r>
              <a:rPr sz="3500" b="0" dirty="0">
                <a:solidFill>
                  <a:srgbClr val="1A1A1A"/>
                </a:solidFill>
              </a:rPr>
              <a:t> web, um Ponto de Venda (POS), um Kitchen Display System (KDS) e um Backoffice de </a:t>
            </a:r>
            <a:r>
              <a:rPr sz="3500" b="0" dirty="0" err="1">
                <a:solidFill>
                  <a:srgbClr val="1A1A1A"/>
                </a:solidFill>
              </a:rPr>
              <a:t>gestão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r>
              <a:rPr sz="4600" b="1" dirty="0" err="1">
                <a:solidFill>
                  <a:srgbClr val="0F5366"/>
                </a:solidFill>
              </a:rPr>
              <a:t>Objetivos</a:t>
            </a:r>
            <a:endParaRPr sz="4600" b="1" dirty="0">
              <a:solidFill>
                <a:srgbClr val="0F5366"/>
              </a:solidFill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500" b="0" dirty="0">
                <a:solidFill>
                  <a:srgbClr val="1A1A1A"/>
                </a:solidFill>
              </a:rPr>
              <a:t>•  </a:t>
            </a:r>
            <a:r>
              <a:rPr sz="3500" b="0" dirty="0" err="1">
                <a:solidFill>
                  <a:srgbClr val="1A1A1A"/>
                </a:solidFill>
              </a:rPr>
              <a:t>Integrar</a:t>
            </a:r>
            <a:r>
              <a:rPr sz="3500" b="0" dirty="0">
                <a:solidFill>
                  <a:srgbClr val="1A1A1A"/>
                </a:solidFill>
              </a:rPr>
              <a:t> POS, KDS e Backoffice </a:t>
            </a:r>
            <a:r>
              <a:rPr sz="3500" b="0" dirty="0" err="1">
                <a:solidFill>
                  <a:srgbClr val="1A1A1A"/>
                </a:solidFill>
              </a:rPr>
              <a:t>numa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única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plataforma</a:t>
            </a:r>
            <a:r>
              <a:rPr sz="3500" b="0" dirty="0">
                <a:solidFill>
                  <a:srgbClr val="1A1A1A"/>
                </a:solidFill>
              </a:rPr>
              <a:t> web;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500" b="0" dirty="0">
                <a:solidFill>
                  <a:srgbClr val="1A1A1A"/>
                </a:solidFill>
              </a:rPr>
              <a:t>•  </a:t>
            </a:r>
            <a:r>
              <a:rPr sz="3500" b="0" dirty="0" err="1">
                <a:solidFill>
                  <a:srgbClr val="1A1A1A"/>
                </a:solidFill>
              </a:rPr>
              <a:t>Sincronizar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pedidos</a:t>
            </a:r>
            <a:r>
              <a:rPr sz="3500" b="0" dirty="0">
                <a:solidFill>
                  <a:srgbClr val="1A1A1A"/>
                </a:solidFill>
              </a:rPr>
              <a:t> entre sala e </a:t>
            </a:r>
            <a:r>
              <a:rPr sz="3500" b="0" dirty="0" err="1">
                <a:solidFill>
                  <a:srgbClr val="1A1A1A"/>
                </a:solidFill>
              </a:rPr>
              <a:t>cozinha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tempo real (</a:t>
            </a:r>
            <a:r>
              <a:rPr sz="3500" b="0" dirty="0" err="1">
                <a:solidFill>
                  <a:srgbClr val="1A1A1A"/>
                </a:solidFill>
              </a:rPr>
              <a:t>WebSockets</a:t>
            </a:r>
            <a:r>
              <a:rPr sz="3500" b="0" dirty="0">
                <a:solidFill>
                  <a:srgbClr val="1A1A1A"/>
                </a:solidFill>
              </a:rPr>
              <a:t>);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500" b="0" dirty="0">
                <a:solidFill>
                  <a:srgbClr val="1A1A1A"/>
                </a:solidFill>
              </a:rPr>
              <a:t>•  </a:t>
            </a:r>
            <a:r>
              <a:rPr sz="3500" b="0" dirty="0" err="1">
                <a:solidFill>
                  <a:srgbClr val="1A1A1A"/>
                </a:solidFill>
              </a:rPr>
              <a:t>Gerir</a:t>
            </a:r>
            <a:r>
              <a:rPr sz="3500" b="0" dirty="0">
                <a:solidFill>
                  <a:srgbClr val="1A1A1A"/>
                </a:solidFill>
              </a:rPr>
              <a:t> mesas, </a:t>
            </a:r>
            <a:r>
              <a:rPr sz="3500" b="0" dirty="0" err="1">
                <a:solidFill>
                  <a:srgbClr val="1A1A1A"/>
                </a:solidFill>
              </a:rPr>
              <a:t>pedidos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pagamentos</a:t>
            </a:r>
            <a:r>
              <a:rPr sz="3500" b="0" dirty="0">
                <a:solidFill>
                  <a:srgbClr val="1A1A1A"/>
                </a:solidFill>
              </a:rPr>
              <a:t>, stocks e </a:t>
            </a:r>
            <a:r>
              <a:rPr sz="3500" b="0" dirty="0" err="1">
                <a:solidFill>
                  <a:srgbClr val="1A1A1A"/>
                </a:solidFill>
              </a:rPr>
              <a:t>relatórios</a:t>
            </a:r>
            <a:r>
              <a:rPr sz="3500" b="0" dirty="0">
                <a:solidFill>
                  <a:srgbClr val="1A1A1A"/>
                </a:solidFill>
              </a:rPr>
              <a:t>;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3500" b="0" dirty="0">
                <a:solidFill>
                  <a:srgbClr val="1A1A1A"/>
                </a:solidFill>
              </a:rPr>
              <a:t>•  </a:t>
            </a:r>
            <a:r>
              <a:rPr sz="3500" b="0" dirty="0" err="1">
                <a:solidFill>
                  <a:srgbClr val="1A1A1A"/>
                </a:solidFill>
              </a:rPr>
              <a:t>Operar</a:t>
            </a:r>
            <a:r>
              <a:rPr sz="3500" b="0" dirty="0">
                <a:solidFill>
                  <a:srgbClr val="1A1A1A"/>
                </a:solidFill>
              </a:rPr>
              <a:t> a </a:t>
            </a:r>
            <a:r>
              <a:rPr sz="3500" b="0" dirty="0" err="1">
                <a:solidFill>
                  <a:srgbClr val="1A1A1A"/>
                </a:solidFill>
              </a:rPr>
              <a:t>custo</a:t>
            </a:r>
            <a:r>
              <a:rPr sz="3500" b="0" dirty="0">
                <a:solidFill>
                  <a:srgbClr val="1A1A1A"/>
                </a:solidFill>
              </a:rPr>
              <a:t> zero, </a:t>
            </a:r>
            <a:r>
              <a:rPr sz="3500" b="0" dirty="0" err="1">
                <a:solidFill>
                  <a:srgbClr val="1A1A1A"/>
                </a:solidFill>
              </a:rPr>
              <a:t>sobre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serviços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gratuitos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r>
              <a:rPr sz="4600" b="1" dirty="0" err="1">
                <a:solidFill>
                  <a:srgbClr val="0F5366"/>
                </a:solidFill>
              </a:rPr>
              <a:t>Arquitetura</a:t>
            </a:r>
            <a:r>
              <a:rPr sz="4600" b="1" dirty="0">
                <a:solidFill>
                  <a:srgbClr val="0F5366"/>
                </a:solidFill>
              </a:rPr>
              <a:t> e </a:t>
            </a:r>
            <a:r>
              <a:rPr sz="4600" b="1" dirty="0" err="1">
                <a:solidFill>
                  <a:srgbClr val="0F5366"/>
                </a:solidFill>
              </a:rPr>
              <a:t>Tecnologias</a:t>
            </a:r>
            <a:endParaRPr sz="4600" b="1" dirty="0">
              <a:solidFill>
                <a:srgbClr val="0F5366"/>
              </a:solidFill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3500" b="0" dirty="0" err="1">
                <a:solidFill>
                  <a:srgbClr val="1A1A1A"/>
                </a:solidFill>
              </a:rPr>
              <a:t>Construído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1" dirty="0">
                <a:solidFill>
                  <a:srgbClr val="1A1A1A"/>
                </a:solidFill>
              </a:rPr>
              <a:t>Next.js</a:t>
            </a:r>
            <a:r>
              <a:rPr sz="3500" b="0" dirty="0">
                <a:solidFill>
                  <a:srgbClr val="1A1A1A"/>
                </a:solidFill>
              </a:rPr>
              <a:t> (</a:t>
            </a:r>
            <a:r>
              <a:rPr lang="en-US" sz="3500" b="0" dirty="0">
                <a:solidFill>
                  <a:srgbClr val="1A1A1A"/>
                </a:solidFill>
              </a:rPr>
              <a:t>fra</a:t>
            </a:r>
            <a:r>
              <a:rPr lang="en-US" sz="3500" dirty="0">
                <a:solidFill>
                  <a:srgbClr val="1A1A1A"/>
                </a:solidFill>
              </a:rPr>
              <a:t>mework </a:t>
            </a:r>
            <a:r>
              <a:rPr sz="3500" b="0" dirty="0">
                <a:solidFill>
                  <a:srgbClr val="1A1A1A"/>
                </a:solidFill>
              </a:rPr>
              <a:t>full-stack),</a:t>
            </a:r>
            <a:r>
              <a:rPr lang="en-US" sz="3500" b="0" dirty="0">
                <a:solidFill>
                  <a:srgbClr val="1A1A1A"/>
                </a:solidFill>
              </a:rPr>
              <a:t> num </a:t>
            </a:r>
            <a:r>
              <a:rPr lang="en-US" sz="3500" b="0" dirty="0" err="1">
                <a:solidFill>
                  <a:srgbClr val="1A1A1A"/>
                </a:solidFill>
              </a:rPr>
              <a:t>repositório</a:t>
            </a:r>
            <a:r>
              <a:rPr lang="en-US" sz="3500" b="0" dirty="0">
                <a:solidFill>
                  <a:srgbClr val="1A1A1A"/>
                </a:solidFill>
              </a:rPr>
              <a:t> </a:t>
            </a:r>
            <a:r>
              <a:rPr lang="en-US" sz="3500" b="1" dirty="0" err="1">
                <a:solidFill>
                  <a:srgbClr val="1A1A1A"/>
                </a:solidFill>
              </a:rPr>
              <a:t>Github</a:t>
            </a:r>
            <a:r>
              <a:rPr lang="en-US" sz="3500" dirty="0">
                <a:solidFill>
                  <a:srgbClr val="1A1A1A"/>
                </a:solidFill>
              </a:rPr>
              <a:t>, </a:t>
            </a:r>
            <a:r>
              <a:rPr sz="3500" b="0" dirty="0">
                <a:solidFill>
                  <a:srgbClr val="1A1A1A"/>
                </a:solidFill>
              </a:rPr>
              <a:t>com base de dados </a:t>
            </a:r>
            <a:r>
              <a:rPr sz="3500" b="1" dirty="0">
                <a:solidFill>
                  <a:srgbClr val="1A1A1A"/>
                </a:solidFill>
              </a:rPr>
              <a:t>PostgreSQL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gerida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pelo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1" dirty="0" err="1">
                <a:solidFill>
                  <a:srgbClr val="1A1A1A"/>
                </a:solidFill>
              </a:rPr>
              <a:t>Supabase</a:t>
            </a:r>
            <a:r>
              <a:rPr sz="3500" b="0" dirty="0">
                <a:solidFill>
                  <a:srgbClr val="1A1A1A"/>
                </a:solidFill>
              </a:rPr>
              <a:t> e </a:t>
            </a:r>
            <a:r>
              <a:rPr sz="3500" b="0" dirty="0" err="1">
                <a:solidFill>
                  <a:srgbClr val="1A1A1A"/>
                </a:solidFill>
              </a:rPr>
              <a:t>publicação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na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1" dirty="0" err="1">
                <a:solidFill>
                  <a:srgbClr val="1A1A1A"/>
                </a:solidFill>
              </a:rPr>
              <a:t>Vercel</a:t>
            </a:r>
            <a:r>
              <a:rPr sz="3500" b="0" dirty="0">
                <a:solidFill>
                  <a:srgbClr val="1A1A1A"/>
                </a:solidFill>
              </a:rPr>
              <a:t>. A </a:t>
            </a:r>
            <a:r>
              <a:rPr sz="3500" b="0" dirty="0" err="1">
                <a:solidFill>
                  <a:srgbClr val="1A1A1A"/>
                </a:solidFill>
              </a:rPr>
              <a:t>comunicação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tempo real </a:t>
            </a:r>
            <a:r>
              <a:rPr sz="3500" b="0" dirty="0" err="1">
                <a:solidFill>
                  <a:srgbClr val="1A1A1A"/>
                </a:solidFill>
              </a:rPr>
              <a:t>assenta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WebSockets</a:t>
            </a:r>
            <a:r>
              <a:rPr sz="3500" b="0" dirty="0">
                <a:solidFill>
                  <a:srgbClr val="1A1A1A"/>
                </a:solidFill>
              </a:rPr>
              <a:t>; a </a:t>
            </a:r>
            <a:r>
              <a:rPr sz="3500" b="0" dirty="0" err="1">
                <a:solidFill>
                  <a:srgbClr val="1A1A1A"/>
                </a:solidFill>
              </a:rPr>
              <a:t>autenticação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combina</a:t>
            </a:r>
            <a:r>
              <a:rPr sz="3500" b="0" dirty="0">
                <a:solidFill>
                  <a:srgbClr val="1A1A1A"/>
                </a:solidFill>
              </a:rPr>
              <a:t> PIN </a:t>
            </a:r>
            <a:r>
              <a:rPr sz="3500" b="0" dirty="0" err="1">
                <a:solidFill>
                  <a:srgbClr val="1A1A1A"/>
                </a:solidFill>
              </a:rPr>
              <a:t>numérico</a:t>
            </a:r>
            <a:r>
              <a:rPr sz="3500" b="0" dirty="0">
                <a:solidFill>
                  <a:srgbClr val="1A1A1A"/>
                </a:solidFill>
              </a:rPr>
              <a:t> (POS/KDS) e email/</a:t>
            </a:r>
            <a:r>
              <a:rPr sz="3500" b="0" dirty="0" err="1">
                <a:solidFill>
                  <a:srgbClr val="1A1A1A"/>
                </a:solidFill>
              </a:rPr>
              <a:t>palavra</a:t>
            </a:r>
            <a:r>
              <a:rPr sz="3500" b="0" dirty="0">
                <a:solidFill>
                  <a:srgbClr val="1A1A1A"/>
                </a:solidFill>
              </a:rPr>
              <a:t>-passe (Backoffice), com </a:t>
            </a:r>
            <a:r>
              <a:rPr sz="3500" b="0" dirty="0" err="1">
                <a:solidFill>
                  <a:srgbClr val="1A1A1A"/>
                </a:solidFill>
              </a:rPr>
              <a:t>sessões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assinadas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JWT e </a:t>
            </a:r>
            <a:r>
              <a:rPr sz="3500" b="0" dirty="0" err="1">
                <a:solidFill>
                  <a:srgbClr val="1A1A1A"/>
                </a:solidFill>
              </a:rPr>
              <a:t>palavras</a:t>
            </a:r>
            <a:r>
              <a:rPr sz="3500" b="0" dirty="0">
                <a:solidFill>
                  <a:srgbClr val="1A1A1A"/>
                </a:solidFill>
              </a:rPr>
              <a:t>-passe </a:t>
            </a:r>
            <a:r>
              <a:rPr sz="3500" b="0" dirty="0" err="1">
                <a:solidFill>
                  <a:srgbClr val="1A1A1A"/>
                </a:solidFill>
              </a:rPr>
              <a:t>protegidas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bcrypt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 algn="l">
              <a:spcBef>
                <a:spcPts val="2000"/>
              </a:spcBef>
              <a:spcAft>
                <a:spcPts val="800"/>
              </a:spcAft>
            </a:pPr>
            <a:endParaRPr lang="en-US" sz="4600" b="1" dirty="0">
              <a:solidFill>
                <a:srgbClr val="0F5366"/>
              </a:solidFill>
            </a:endParaRPr>
          </a:p>
          <a:p>
            <a:pPr>
              <a:spcBef>
                <a:spcPts val="2000"/>
              </a:spcBef>
              <a:spcAft>
                <a:spcPts val="800"/>
              </a:spcAft>
            </a:pPr>
            <a:r>
              <a:rPr lang="pt-BR" sz="4600" b="1">
                <a:solidFill>
                  <a:srgbClr val="0F5366"/>
                </a:solidFill>
              </a:rPr>
              <a:t>Desenvolvimento assistido por IA orientado por modelos</a:t>
            </a:r>
          </a:p>
          <a:p>
            <a:pPr>
              <a:spcBef>
                <a:spcPts val="2000"/>
              </a:spcBef>
              <a:spcAft>
                <a:spcPts val="800"/>
              </a:spcAft>
            </a:pPr>
            <a:r>
              <a:rPr sz="3500" b="0" dirty="0">
                <a:solidFill>
                  <a:srgbClr val="1A1A1A"/>
                </a:solidFill>
              </a:rPr>
              <a:t>A </a:t>
            </a:r>
            <a:r>
              <a:rPr sz="3500" b="0" dirty="0" err="1">
                <a:solidFill>
                  <a:srgbClr val="1A1A1A"/>
                </a:solidFill>
              </a:rPr>
              <a:t>modelação</a:t>
            </a:r>
            <a:r>
              <a:rPr sz="3500" b="0" dirty="0">
                <a:solidFill>
                  <a:srgbClr val="1A1A1A"/>
                </a:solidFill>
              </a:rPr>
              <a:t> UML (</a:t>
            </a:r>
            <a:r>
              <a:rPr sz="3500" b="0" dirty="0" err="1">
                <a:solidFill>
                  <a:srgbClr val="1A1A1A"/>
                </a:solidFill>
              </a:rPr>
              <a:t>casos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uso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atividade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estado</a:t>
            </a:r>
            <a:r>
              <a:rPr sz="3500" b="0" dirty="0">
                <a:solidFill>
                  <a:srgbClr val="1A1A1A"/>
                </a:solidFill>
              </a:rPr>
              <a:t>, classes e DER) </a:t>
            </a:r>
            <a:r>
              <a:rPr sz="3500" b="0" dirty="0" err="1">
                <a:solidFill>
                  <a:srgbClr val="1A1A1A"/>
                </a:solidFill>
              </a:rPr>
              <a:t>serviu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contexto</a:t>
            </a:r>
            <a:r>
              <a:rPr sz="3500" b="0" dirty="0">
                <a:solidFill>
                  <a:srgbClr val="1A1A1A"/>
                </a:solidFill>
              </a:rPr>
              <a:t> para a </a:t>
            </a:r>
            <a:r>
              <a:rPr sz="3500" b="0" dirty="0" err="1">
                <a:solidFill>
                  <a:srgbClr val="1A1A1A"/>
                </a:solidFill>
              </a:rPr>
              <a:t>geração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código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assistida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lang="en-US" sz="3500" b="0" dirty="0">
                <a:solidFill>
                  <a:srgbClr val="1A1A1A"/>
                </a:solidFill>
              </a:rPr>
              <a:t> </a:t>
            </a:r>
            <a:r>
              <a:rPr lang="en-US" sz="3500" b="0" dirty="0" err="1">
                <a:solidFill>
                  <a:srgbClr val="1A1A1A"/>
                </a:solidFill>
              </a:rPr>
              <a:t>Inteligência</a:t>
            </a:r>
            <a:r>
              <a:rPr lang="en-US" sz="3500" b="0" dirty="0">
                <a:solidFill>
                  <a:srgbClr val="1A1A1A"/>
                </a:solidFill>
              </a:rPr>
              <a:t> artificial, tais </a:t>
            </a:r>
            <a:r>
              <a:rPr lang="en-US" sz="3500" b="0" dirty="0" err="1">
                <a:solidFill>
                  <a:srgbClr val="1A1A1A"/>
                </a:solidFill>
              </a:rPr>
              <a:t>como</a:t>
            </a:r>
            <a:r>
              <a:rPr lang="en-US" sz="3500" b="0" dirty="0">
                <a:solidFill>
                  <a:srgbClr val="1A1A1A"/>
                </a:solidFill>
              </a:rPr>
              <a:t>,</a:t>
            </a:r>
            <a:r>
              <a:rPr sz="3500" b="0" dirty="0">
                <a:solidFill>
                  <a:srgbClr val="1A1A1A"/>
                </a:solidFill>
              </a:rPr>
              <a:t> Claude Code, Claude (design) e Gemini, </a:t>
            </a:r>
            <a:r>
              <a:rPr sz="3500" b="0" dirty="0" err="1">
                <a:solidFill>
                  <a:srgbClr val="1A1A1A"/>
                </a:solidFill>
              </a:rPr>
              <a:t>cabendo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ao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programador</a:t>
            </a:r>
            <a:r>
              <a:rPr sz="3500" b="0" dirty="0">
                <a:solidFill>
                  <a:srgbClr val="1A1A1A"/>
                </a:solidFill>
              </a:rPr>
              <a:t> o </a:t>
            </a:r>
            <a:r>
              <a:rPr sz="3500" b="0" dirty="0" err="1">
                <a:solidFill>
                  <a:srgbClr val="1A1A1A"/>
                </a:solidFill>
              </a:rPr>
              <a:t>papel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arquiteto</a:t>
            </a:r>
            <a:r>
              <a:rPr sz="3500" b="0" dirty="0">
                <a:solidFill>
                  <a:srgbClr val="1A1A1A"/>
                </a:solidFill>
              </a:rPr>
              <a:t> e revisor.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6114531" y="9326880"/>
            <a:ext cx="12344400" cy="53655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 dirty="0" err="1">
                <a:solidFill>
                  <a:srgbClr val="0F5366"/>
                </a:solidFill>
              </a:rPr>
              <a:t>Funcionalidades</a:t>
            </a:r>
            <a:endParaRPr sz="4600" b="1" dirty="0">
              <a:solidFill>
                <a:srgbClr val="0F5366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500" b="1" dirty="0">
                <a:solidFill>
                  <a:srgbClr val="1A1A1A"/>
                </a:solidFill>
              </a:rPr>
              <a:t>POS — </a:t>
            </a:r>
            <a:r>
              <a:rPr sz="3500" b="0" dirty="0" err="1">
                <a:solidFill>
                  <a:srgbClr val="1A1A1A"/>
                </a:solidFill>
              </a:rPr>
              <a:t>mapa</a:t>
            </a:r>
            <a:r>
              <a:rPr sz="3500" b="0" dirty="0">
                <a:solidFill>
                  <a:srgbClr val="1A1A1A"/>
                </a:solidFill>
              </a:rPr>
              <a:t> de mesas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zona, </a:t>
            </a:r>
            <a:r>
              <a:rPr sz="3500" b="0" dirty="0" err="1">
                <a:solidFill>
                  <a:srgbClr val="1A1A1A"/>
                </a:solidFill>
              </a:rPr>
              <a:t>pedidos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toque com </a:t>
            </a:r>
            <a:r>
              <a:rPr sz="3500" b="0" dirty="0" err="1">
                <a:solidFill>
                  <a:srgbClr val="1A1A1A"/>
                </a:solidFill>
              </a:rPr>
              <a:t>modificadores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envios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parciais</a:t>
            </a:r>
            <a:r>
              <a:rPr sz="3500" b="0" dirty="0">
                <a:solidFill>
                  <a:srgbClr val="1A1A1A"/>
                </a:solidFill>
              </a:rPr>
              <a:t> para a </a:t>
            </a:r>
            <a:r>
              <a:rPr sz="3500" b="0" dirty="0" err="1">
                <a:solidFill>
                  <a:srgbClr val="1A1A1A"/>
                </a:solidFill>
              </a:rPr>
              <a:t>cozinha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pagamentos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múltiplos</a:t>
            </a:r>
            <a:r>
              <a:rPr sz="3500" b="0" dirty="0">
                <a:solidFill>
                  <a:srgbClr val="1A1A1A"/>
                </a:solidFill>
              </a:rPr>
              <a:t> (</a:t>
            </a:r>
            <a:r>
              <a:rPr sz="3500" b="0" dirty="0" err="1">
                <a:solidFill>
                  <a:srgbClr val="1A1A1A"/>
                </a:solidFill>
              </a:rPr>
              <a:t>numerári</a:t>
            </a:r>
            <a:r>
              <a:rPr lang="en-US" sz="3500" b="0" dirty="0" err="1">
                <a:solidFill>
                  <a:srgbClr val="1A1A1A"/>
                </a:solidFill>
              </a:rPr>
              <a:t>o</a:t>
            </a:r>
            <a:r>
              <a:rPr sz="3500" b="0" dirty="0">
                <a:solidFill>
                  <a:srgbClr val="1A1A1A"/>
                </a:solidFill>
              </a:rPr>
              <a:t>, MB WAY, </a:t>
            </a:r>
            <a:r>
              <a:rPr sz="3500" b="0" dirty="0" err="1">
                <a:solidFill>
                  <a:srgbClr val="1A1A1A"/>
                </a:solidFill>
              </a:rPr>
              <a:t>multibanco</a:t>
            </a:r>
            <a:r>
              <a:rPr sz="3500" b="0">
                <a:solidFill>
                  <a:srgbClr val="1A1A1A"/>
                </a:solidFill>
              </a:rPr>
              <a:t>)</a:t>
            </a:r>
            <a:r>
              <a:rPr lang="en-US" sz="3500" b="0">
                <a:solidFill>
                  <a:srgbClr val="1A1A1A"/>
                </a:solidFill>
              </a:rPr>
              <a:t> e</a:t>
            </a:r>
            <a:r>
              <a:rPr sz="3500" b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divisão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conta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500" b="1" dirty="0">
                <a:solidFill>
                  <a:srgbClr val="1A1A1A"/>
                </a:solidFill>
              </a:rPr>
              <a:t>KDS — </a:t>
            </a:r>
            <a:r>
              <a:rPr sz="3500" b="0" dirty="0">
                <a:solidFill>
                  <a:srgbClr val="1A1A1A"/>
                </a:solidFill>
              </a:rPr>
              <a:t>fila de </a:t>
            </a:r>
            <a:r>
              <a:rPr sz="3500" b="0" dirty="0" err="1">
                <a:solidFill>
                  <a:srgbClr val="1A1A1A"/>
                </a:solidFill>
              </a:rPr>
              <a:t>pedidos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tempo real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mesa e hora, </a:t>
            </a:r>
            <a:r>
              <a:rPr sz="3500" b="0" dirty="0" err="1">
                <a:solidFill>
                  <a:srgbClr val="1A1A1A"/>
                </a:solidFill>
              </a:rPr>
              <a:t>estados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preparação</a:t>
            </a:r>
            <a:r>
              <a:rPr sz="3500" b="0" dirty="0">
                <a:solidFill>
                  <a:srgbClr val="1A1A1A"/>
                </a:solidFill>
              </a:rPr>
              <a:t> e </a:t>
            </a:r>
            <a:r>
              <a:rPr sz="3500" b="0" dirty="0" err="1">
                <a:solidFill>
                  <a:srgbClr val="1A1A1A"/>
                </a:solidFill>
              </a:rPr>
              <a:t>temporizadores</a:t>
            </a:r>
            <a:r>
              <a:rPr sz="3500" b="0" dirty="0">
                <a:solidFill>
                  <a:srgbClr val="1A1A1A"/>
                </a:solidFill>
              </a:rPr>
              <a:t> com </a:t>
            </a:r>
            <a:r>
              <a:rPr sz="3500" b="0" dirty="0" err="1">
                <a:solidFill>
                  <a:srgbClr val="1A1A1A"/>
                </a:solidFill>
              </a:rPr>
              <a:t>alertas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atraso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3500" b="1" dirty="0">
                <a:solidFill>
                  <a:srgbClr val="1A1A1A"/>
                </a:solidFill>
              </a:rPr>
              <a:t>Backoffice — </a:t>
            </a:r>
            <a:r>
              <a:rPr sz="3500" b="0" dirty="0" err="1">
                <a:solidFill>
                  <a:srgbClr val="1A1A1A"/>
                </a:solidFill>
              </a:rPr>
              <a:t>gestão</a:t>
            </a:r>
            <a:r>
              <a:rPr sz="3500" b="0" dirty="0">
                <a:solidFill>
                  <a:srgbClr val="1A1A1A"/>
                </a:solidFill>
              </a:rPr>
              <a:t> de menus e stocks com abate </a:t>
            </a:r>
            <a:r>
              <a:rPr sz="3500" b="0" dirty="0" err="1">
                <a:solidFill>
                  <a:srgbClr val="1A1A1A"/>
                </a:solidFill>
              </a:rPr>
              <a:t>automático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ingredientes</a:t>
            </a:r>
            <a:r>
              <a:rPr sz="3500" b="0" dirty="0">
                <a:solidFill>
                  <a:srgbClr val="1A1A1A"/>
                </a:solidFill>
              </a:rPr>
              <a:t>, </a:t>
            </a:r>
            <a:r>
              <a:rPr sz="3500" b="0" dirty="0" err="1">
                <a:solidFill>
                  <a:srgbClr val="1A1A1A"/>
                </a:solidFill>
              </a:rPr>
              <a:t>relatórios</a:t>
            </a:r>
            <a:r>
              <a:rPr sz="3500" b="0" dirty="0">
                <a:solidFill>
                  <a:srgbClr val="1A1A1A"/>
                </a:solidFill>
              </a:rPr>
              <a:t> e KPIs, </a:t>
            </a:r>
            <a:r>
              <a:rPr sz="3500" b="0" dirty="0" err="1">
                <a:solidFill>
                  <a:srgbClr val="1A1A1A"/>
                </a:solidFill>
              </a:rPr>
              <a:t>exportação</a:t>
            </a:r>
            <a:r>
              <a:rPr sz="3500" b="0" dirty="0">
                <a:solidFill>
                  <a:srgbClr val="1A1A1A"/>
                </a:solidFill>
              </a:rPr>
              <a:t> CSV e </a:t>
            </a:r>
            <a:r>
              <a:rPr sz="3500" b="0" dirty="0" err="1">
                <a:solidFill>
                  <a:srgbClr val="1A1A1A"/>
                </a:solidFill>
              </a:rPr>
              <a:t>controlo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acessos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perfil</a:t>
            </a:r>
            <a:r>
              <a:rPr sz="3500" b="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6114531" y="37681678"/>
            <a:ext cx="12344400" cy="25904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dirty="0" err="1">
                <a:solidFill>
                  <a:srgbClr val="0F5366"/>
                </a:solidFill>
              </a:rPr>
              <a:t>Equipa</a:t>
            </a:r>
            <a:r>
              <a:rPr sz="4000" b="1" dirty="0">
                <a:solidFill>
                  <a:srgbClr val="0F5366"/>
                </a:solidFill>
              </a:rPr>
              <a:t> de </a:t>
            </a:r>
            <a:r>
              <a:rPr sz="4000" b="1" dirty="0" err="1">
                <a:solidFill>
                  <a:srgbClr val="0F5366"/>
                </a:solidFill>
              </a:rPr>
              <a:t>Orientação</a:t>
            </a:r>
            <a:r>
              <a:rPr sz="4000" b="1" dirty="0">
                <a:solidFill>
                  <a:srgbClr val="0F5366"/>
                </a:solidFill>
              </a:rPr>
              <a:t>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0" dirty="0">
                <a:solidFill>
                  <a:srgbClr val="1A1A1A"/>
                </a:solidFill>
              </a:rPr>
              <a:t>Frederico Branco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0" dirty="0">
                <a:solidFill>
                  <a:srgbClr val="1A1A1A"/>
                </a:solidFill>
              </a:rPr>
              <a:t>Emanuel Peres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0" dirty="0">
                <a:solidFill>
                  <a:srgbClr val="1A1A1A"/>
                </a:solidFill>
              </a:rPr>
              <a:t>Manuel Cabral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0200" y="40634613"/>
            <a:ext cx="4938233" cy="16345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935579" y="31366048"/>
            <a:ext cx="12344400" cy="4862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 dirty="0" err="1">
                <a:solidFill>
                  <a:srgbClr val="0F5366"/>
                </a:solidFill>
              </a:rPr>
              <a:t>Resultados</a:t>
            </a:r>
            <a:r>
              <a:rPr sz="4600" b="1" dirty="0">
                <a:solidFill>
                  <a:srgbClr val="0F5366"/>
                </a:solidFill>
              </a:rPr>
              <a:t> e </a:t>
            </a:r>
            <a:r>
              <a:rPr sz="4600" b="1" dirty="0" err="1">
                <a:solidFill>
                  <a:srgbClr val="0F5366"/>
                </a:solidFill>
              </a:rPr>
              <a:t>Conclusão</a:t>
            </a:r>
            <a:endParaRPr sz="4600" b="1" dirty="0">
              <a:solidFill>
                <a:srgbClr val="0F5366"/>
              </a:solidFill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500" b="0" dirty="0">
                <a:solidFill>
                  <a:srgbClr val="1A1A1A"/>
                </a:solidFill>
              </a:rPr>
              <a:t>O </a:t>
            </a:r>
            <a:r>
              <a:rPr sz="3500" b="0" dirty="0" err="1">
                <a:solidFill>
                  <a:srgbClr val="1A1A1A"/>
                </a:solidFill>
              </a:rPr>
              <a:t>YourKitchen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encontra</a:t>
            </a:r>
            <a:r>
              <a:rPr sz="3500" b="0" dirty="0">
                <a:solidFill>
                  <a:srgbClr val="1A1A1A"/>
                </a:solidFill>
              </a:rPr>
              <a:t>-se </a:t>
            </a:r>
            <a:r>
              <a:rPr sz="3500" b="0" dirty="0" err="1">
                <a:solidFill>
                  <a:srgbClr val="1A1A1A"/>
                </a:solidFill>
              </a:rPr>
              <a:t>publicado</a:t>
            </a:r>
            <a:r>
              <a:rPr sz="3500" b="0" dirty="0">
                <a:solidFill>
                  <a:srgbClr val="1A1A1A"/>
                </a:solidFill>
              </a:rPr>
              <a:t> e </a:t>
            </a:r>
            <a:r>
              <a:rPr sz="3500" b="0" dirty="0" err="1">
                <a:solidFill>
                  <a:srgbClr val="1A1A1A"/>
                </a:solidFill>
              </a:rPr>
              <a:t>operável</a:t>
            </a:r>
            <a:r>
              <a:rPr sz="3500" b="0" dirty="0">
                <a:solidFill>
                  <a:srgbClr val="1A1A1A"/>
                </a:solidFill>
              </a:rPr>
              <a:t>, com </a:t>
            </a:r>
            <a:r>
              <a:rPr lang="en-US" sz="3500" b="0" dirty="0">
                <a:solidFill>
                  <a:srgbClr val="1A1A1A"/>
                </a:solidFill>
              </a:rPr>
              <a:t>39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requisitos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funcionais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implementados</a:t>
            </a:r>
            <a:r>
              <a:rPr sz="3500" b="0" dirty="0">
                <a:solidFill>
                  <a:srgbClr val="1A1A1A"/>
                </a:solidFill>
              </a:rPr>
              <a:t>. </a:t>
            </a:r>
            <a:r>
              <a:rPr sz="3500" b="0" dirty="0" err="1">
                <a:solidFill>
                  <a:srgbClr val="1A1A1A"/>
                </a:solidFill>
              </a:rPr>
              <a:t>Demonstra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que</a:t>
            </a:r>
            <a:r>
              <a:rPr sz="3500" b="0" dirty="0">
                <a:solidFill>
                  <a:srgbClr val="1A1A1A"/>
                </a:solidFill>
              </a:rPr>
              <a:t> um </a:t>
            </a:r>
            <a:r>
              <a:rPr sz="3500" b="0" dirty="0" err="1">
                <a:solidFill>
                  <a:srgbClr val="1A1A1A"/>
                </a:solidFill>
              </a:rPr>
              <a:t>ecossistema</a:t>
            </a:r>
            <a:r>
              <a:rPr sz="3500" b="0" dirty="0">
                <a:solidFill>
                  <a:srgbClr val="1A1A1A"/>
                </a:solidFill>
              </a:rPr>
              <a:t> de </a:t>
            </a:r>
            <a:r>
              <a:rPr sz="3500" b="0" dirty="0" err="1">
                <a:solidFill>
                  <a:srgbClr val="1A1A1A"/>
                </a:solidFill>
              </a:rPr>
              <a:t>gestão</a:t>
            </a:r>
            <a:r>
              <a:rPr sz="3500" b="0" dirty="0">
                <a:solidFill>
                  <a:srgbClr val="1A1A1A"/>
                </a:solidFill>
              </a:rPr>
              <a:t> para </a:t>
            </a:r>
            <a:r>
              <a:rPr sz="3500" b="0" dirty="0" err="1">
                <a:solidFill>
                  <a:srgbClr val="1A1A1A"/>
                </a:solidFill>
              </a:rPr>
              <a:t>restauração</a:t>
            </a:r>
            <a:r>
              <a:rPr sz="3500" b="0" dirty="0">
                <a:solidFill>
                  <a:srgbClr val="1A1A1A"/>
                </a:solidFill>
              </a:rPr>
              <a:t>, web-first e </a:t>
            </a:r>
            <a:r>
              <a:rPr sz="3500" b="0" dirty="0" err="1">
                <a:solidFill>
                  <a:srgbClr val="1A1A1A"/>
                </a:solidFill>
              </a:rPr>
              <a:t>agnóstico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em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termos</a:t>
            </a:r>
            <a:r>
              <a:rPr sz="3500" b="0" dirty="0">
                <a:solidFill>
                  <a:srgbClr val="1A1A1A"/>
                </a:solidFill>
              </a:rPr>
              <a:t> de hardware, </a:t>
            </a:r>
            <a:r>
              <a:rPr sz="3500" b="0" dirty="0" err="1">
                <a:solidFill>
                  <a:srgbClr val="1A1A1A"/>
                </a:solidFill>
              </a:rPr>
              <a:t>pode</a:t>
            </a:r>
            <a:r>
              <a:rPr sz="3500" b="0" dirty="0">
                <a:solidFill>
                  <a:srgbClr val="1A1A1A"/>
                </a:solidFill>
              </a:rPr>
              <a:t> ser </a:t>
            </a:r>
            <a:r>
              <a:rPr sz="3500" b="0" dirty="0" err="1">
                <a:solidFill>
                  <a:srgbClr val="1A1A1A"/>
                </a:solidFill>
              </a:rPr>
              <a:t>construído</a:t>
            </a:r>
            <a:r>
              <a:rPr sz="3500" b="0" dirty="0">
                <a:solidFill>
                  <a:srgbClr val="1A1A1A"/>
                </a:solidFill>
              </a:rPr>
              <a:t> e </a:t>
            </a:r>
            <a:r>
              <a:rPr sz="3500" b="0" dirty="0" err="1">
                <a:solidFill>
                  <a:srgbClr val="1A1A1A"/>
                </a:solidFill>
              </a:rPr>
              <a:t>operado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por</a:t>
            </a:r>
            <a:r>
              <a:rPr sz="3500" b="0" dirty="0">
                <a:solidFill>
                  <a:srgbClr val="1A1A1A"/>
                </a:solidFill>
              </a:rPr>
              <a:t> um </a:t>
            </a:r>
            <a:r>
              <a:rPr sz="3500" b="0" dirty="0" err="1">
                <a:solidFill>
                  <a:srgbClr val="1A1A1A"/>
                </a:solidFill>
              </a:rPr>
              <a:t>único</a:t>
            </a:r>
            <a:r>
              <a:rPr sz="3500" b="0" dirty="0">
                <a:solidFill>
                  <a:srgbClr val="1A1A1A"/>
                </a:solidFill>
              </a:rPr>
              <a:t> </a:t>
            </a:r>
            <a:r>
              <a:rPr sz="3500" b="0" dirty="0" err="1">
                <a:solidFill>
                  <a:srgbClr val="1A1A1A"/>
                </a:solidFill>
              </a:rPr>
              <a:t>programador</a:t>
            </a:r>
            <a:r>
              <a:rPr sz="3500" b="0" dirty="0">
                <a:solidFill>
                  <a:srgbClr val="1A1A1A"/>
                </a:solidFill>
              </a:rPr>
              <a:t> a</a:t>
            </a:r>
            <a:r>
              <a:rPr lang="en-US" sz="3500" b="0" dirty="0">
                <a:solidFill>
                  <a:srgbClr val="1A1A1A"/>
                </a:solidFill>
              </a:rPr>
              <a:t> um </a:t>
            </a:r>
            <a:r>
              <a:rPr lang="en-US" sz="3500" b="0" dirty="0" err="1">
                <a:solidFill>
                  <a:srgbClr val="1A1A1A"/>
                </a:solidFill>
              </a:rPr>
              <a:t>custo</a:t>
            </a:r>
            <a:r>
              <a:rPr lang="en-US" sz="3500" b="0" dirty="0">
                <a:solidFill>
                  <a:srgbClr val="1A1A1A"/>
                </a:solidFill>
              </a:rPr>
              <a:t> </a:t>
            </a:r>
            <a:r>
              <a:rPr lang="en-US" sz="3500" b="0" dirty="0" err="1">
                <a:solidFill>
                  <a:srgbClr val="1A1A1A"/>
                </a:solidFill>
              </a:rPr>
              <a:t>bastante</a:t>
            </a:r>
            <a:r>
              <a:rPr lang="en-US" sz="3500" b="0" dirty="0">
                <a:solidFill>
                  <a:srgbClr val="1A1A1A"/>
                </a:solidFill>
              </a:rPr>
              <a:t> </a:t>
            </a:r>
            <a:r>
              <a:rPr lang="en-US" sz="3500" b="0">
                <a:solidFill>
                  <a:srgbClr val="1A1A1A"/>
                </a:solidFill>
              </a:rPr>
              <a:t>reduzido</a:t>
            </a:r>
            <a:r>
              <a:rPr sz="3500" b="0">
                <a:solidFill>
                  <a:srgbClr val="1A1A1A"/>
                </a:solidFill>
              </a:rPr>
              <a:t>.</a:t>
            </a:r>
            <a:endParaRPr lang="en-US" sz="3500" b="0" dirty="0">
              <a:solidFill>
                <a:srgbClr val="1A1A1A"/>
              </a:solidFill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3500" b="0" dirty="0">
              <a:solidFill>
                <a:srgbClr val="1A1A1A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dirty="0" err="1">
                <a:solidFill>
                  <a:srgbClr val="0F5366"/>
                </a:solidFill>
              </a:rPr>
              <a:t>lpei-yourkitchen.vercel.app</a:t>
            </a:r>
            <a:endParaRPr sz="3400" b="1" dirty="0">
              <a:solidFill>
                <a:srgbClr val="0F5366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A6F033-5085-A29E-834D-087BBF0F6D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639" y="22388838"/>
            <a:ext cx="9629282" cy="96995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D6BEC0B-665A-502A-FD9C-C2D2C63C8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3440" y="16307066"/>
            <a:ext cx="6014339" cy="30719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219B0A9-F2DE-F52B-D283-F3C154AFC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0553" y="16753962"/>
            <a:ext cx="7391767" cy="22034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2F0E490-388F-4190-3659-3584CE9004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3440" y="19971392"/>
            <a:ext cx="13898880" cy="29012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A79DEFF-9A43-CB43-4FBB-32F0821115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3440" y="23487255"/>
            <a:ext cx="13898880" cy="59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40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409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YOURKITCHEN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Barbosa</dc:creator>
  <cp:lastModifiedBy>DTEX</cp:lastModifiedBy>
  <cp:revision>28</cp:revision>
  <dcterms:created xsi:type="dcterms:W3CDTF">2017-05-26T15:49:06Z</dcterms:created>
  <dcterms:modified xsi:type="dcterms:W3CDTF">2026-06-14T01:03:05Z</dcterms:modified>
</cp:coreProperties>
</file>