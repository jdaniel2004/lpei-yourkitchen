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30275213" cy="42803763"/>
  <p:notesSz cx="6858000" cy="9144000"/>
  <p:defaultTextStyle>
    <a:defPPr>
      <a:defRPr lang="pt-PT"/>
    </a:defPPr>
    <a:lvl1pPr marL="0" algn="l" defTabSz="3783970" rtl="0" eaLnBrk="1" latinLnBrk="0" hangingPunct="1">
      <a:defRPr sz="7449" kern="1200">
        <a:solidFill>
          <a:schemeClr val="tx1"/>
        </a:solidFill>
        <a:latin typeface="+mn-lt"/>
        <a:ea typeface="+mn-ea"/>
        <a:cs typeface="+mn-cs"/>
      </a:defRPr>
    </a:lvl1pPr>
    <a:lvl2pPr marL="1891985" algn="l" defTabSz="3783970" rtl="0" eaLnBrk="1" latinLnBrk="0" hangingPunct="1">
      <a:defRPr sz="7449" kern="1200">
        <a:solidFill>
          <a:schemeClr val="tx1"/>
        </a:solidFill>
        <a:latin typeface="+mn-lt"/>
        <a:ea typeface="+mn-ea"/>
        <a:cs typeface="+mn-cs"/>
      </a:defRPr>
    </a:lvl2pPr>
    <a:lvl3pPr marL="3783970" algn="l" defTabSz="3783970" rtl="0" eaLnBrk="1" latinLnBrk="0" hangingPunct="1">
      <a:defRPr sz="7449" kern="1200">
        <a:solidFill>
          <a:schemeClr val="tx1"/>
        </a:solidFill>
        <a:latin typeface="+mn-lt"/>
        <a:ea typeface="+mn-ea"/>
        <a:cs typeface="+mn-cs"/>
      </a:defRPr>
    </a:lvl3pPr>
    <a:lvl4pPr marL="5675955" algn="l" defTabSz="3783970" rtl="0" eaLnBrk="1" latinLnBrk="0" hangingPunct="1">
      <a:defRPr sz="7449" kern="1200">
        <a:solidFill>
          <a:schemeClr val="tx1"/>
        </a:solidFill>
        <a:latin typeface="+mn-lt"/>
        <a:ea typeface="+mn-ea"/>
        <a:cs typeface="+mn-cs"/>
      </a:defRPr>
    </a:lvl4pPr>
    <a:lvl5pPr marL="7567940" algn="l" defTabSz="3783970" rtl="0" eaLnBrk="1" latinLnBrk="0" hangingPunct="1">
      <a:defRPr sz="7449" kern="1200">
        <a:solidFill>
          <a:schemeClr val="tx1"/>
        </a:solidFill>
        <a:latin typeface="+mn-lt"/>
        <a:ea typeface="+mn-ea"/>
        <a:cs typeface="+mn-cs"/>
      </a:defRPr>
    </a:lvl5pPr>
    <a:lvl6pPr marL="9459925" algn="l" defTabSz="3783970" rtl="0" eaLnBrk="1" latinLnBrk="0" hangingPunct="1">
      <a:defRPr sz="7449" kern="1200">
        <a:solidFill>
          <a:schemeClr val="tx1"/>
        </a:solidFill>
        <a:latin typeface="+mn-lt"/>
        <a:ea typeface="+mn-ea"/>
        <a:cs typeface="+mn-cs"/>
      </a:defRPr>
    </a:lvl6pPr>
    <a:lvl7pPr marL="11351910" algn="l" defTabSz="3783970" rtl="0" eaLnBrk="1" latinLnBrk="0" hangingPunct="1">
      <a:defRPr sz="7449" kern="1200">
        <a:solidFill>
          <a:schemeClr val="tx1"/>
        </a:solidFill>
        <a:latin typeface="+mn-lt"/>
        <a:ea typeface="+mn-ea"/>
        <a:cs typeface="+mn-cs"/>
      </a:defRPr>
    </a:lvl7pPr>
    <a:lvl8pPr marL="13243895" algn="l" defTabSz="3783970" rtl="0" eaLnBrk="1" latinLnBrk="0" hangingPunct="1">
      <a:defRPr sz="7449" kern="1200">
        <a:solidFill>
          <a:schemeClr val="tx1"/>
        </a:solidFill>
        <a:latin typeface="+mn-lt"/>
        <a:ea typeface="+mn-ea"/>
        <a:cs typeface="+mn-cs"/>
      </a:defRPr>
    </a:lvl8pPr>
    <a:lvl9pPr marL="15135880" algn="l" defTabSz="3783970" rtl="0" eaLnBrk="1" latinLnBrk="0" hangingPunct="1">
      <a:defRPr sz="7449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81" autoAdjust="0"/>
    <p:restoredTop sz="94660"/>
  </p:normalViewPr>
  <p:slideViewPr>
    <p:cSldViewPr snapToGrid="0">
      <p:cViewPr>
        <p:scale>
          <a:sx n="33" d="100"/>
          <a:sy n="33" d="100"/>
        </p:scale>
        <p:origin x="-130" y="-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pt-PT"/>
              <a:t>Faça clique para editar o estilo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0C4FD-9E2D-4F5B-B995-A15615531731}" type="datetimeFigureOut">
              <a:rPr lang="pt-PT" smtClean="0"/>
              <a:t>11/06/2026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2D10-DCEA-4110-BF70-5172E6C99C8D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5757478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0C4FD-9E2D-4F5B-B995-A15615531731}" type="datetimeFigureOut">
              <a:rPr lang="pt-PT" smtClean="0"/>
              <a:t>11/06/2026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2D10-DCEA-4110-BF70-5172E6C99C8D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405170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/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75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75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0C4FD-9E2D-4F5B-B995-A15615531731}" type="datetimeFigureOut">
              <a:rPr lang="pt-PT" smtClean="0"/>
              <a:t>11/06/2026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2D10-DCEA-4110-BF70-5172E6C99C8D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257168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0C4FD-9E2D-4F5B-B995-A15615531731}" type="datetimeFigureOut">
              <a:rPr lang="pt-PT" smtClean="0"/>
              <a:t>11/06/2026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2D10-DCEA-4110-BF70-5172E6C99C8D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2163290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0C4FD-9E2D-4F5B-B995-A15615531731}" type="datetimeFigureOut">
              <a:rPr lang="pt-PT" smtClean="0"/>
              <a:t>11/06/2026</a:t>
            </a:fld>
            <a:endParaRPr lang="pt-PT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2D10-DCEA-4110-BF70-5172E6C99C8D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4020352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0C4FD-9E2D-4F5B-B995-A15615531731}" type="datetimeFigureOut">
              <a:rPr lang="pt-PT" smtClean="0"/>
              <a:t>11/06/2026</a:t>
            </a:fld>
            <a:endParaRPr lang="pt-PT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2D10-DCEA-4110-BF70-5172E6C99C8D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746380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0C4FD-9E2D-4F5B-B995-A15615531731}" type="datetimeFigureOut">
              <a:rPr lang="pt-PT" smtClean="0"/>
              <a:t>11/06/2026</a:t>
            </a:fld>
            <a:endParaRPr lang="pt-PT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2D10-DCEA-4110-BF70-5172E6C99C8D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094641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0C4FD-9E2D-4F5B-B995-A15615531731}" type="datetimeFigureOut">
              <a:rPr lang="pt-PT" smtClean="0"/>
              <a:t>11/06/2026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2D10-DCEA-4110-BF70-5172E6C99C8D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7939776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pt-PT"/>
              <a:t>Clique para editar os estilos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0C4FD-9E2D-4F5B-B995-A15615531731}" type="datetimeFigureOut">
              <a:rPr lang="pt-PT" smtClean="0"/>
              <a:t>11/06/2026</a:t>
            </a:fld>
            <a:endParaRPr lang="pt-PT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2D10-DCEA-4110-BF70-5172E6C99C8D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9087642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0C4FD-9E2D-4F5B-B995-A15615531731}" type="datetimeFigureOut">
              <a:rPr lang="pt-PT" smtClean="0"/>
              <a:t>11/06/2026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2D10-DCEA-4110-BF70-5172E6C99C8D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16361719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10C4FD-9E2D-4F5B-B995-A15615531731}" type="datetimeFigureOut">
              <a:rPr lang="pt-PT" smtClean="0"/>
              <a:t>11/06/2026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932D10-DCEA-4110-BF70-5172E6C99C8D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24057222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PT"/>
              <a:t>Clique para editar o estilo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10C4FD-9E2D-4F5B-B995-A15615531731}" type="datetimeFigureOut">
              <a:rPr lang="pt-PT" smtClean="0"/>
              <a:t>11/06/2026</a:t>
            </a:fld>
            <a:endParaRPr lang="pt-PT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PT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932D10-DCEA-4110-BF70-5172E6C99C8D}" type="slidenum">
              <a:rPr lang="pt-PT" smtClean="0"/>
              <a:t>‹#›</a:t>
            </a:fld>
            <a:endParaRPr lang="pt-PT"/>
          </a:p>
        </p:txBody>
      </p:sp>
    </p:spTree>
    <p:extLst>
      <p:ext uri="{BB962C8B-B14F-4D97-AF65-F5344CB8AC3E}">
        <p14:creationId xmlns:p14="http://schemas.microsoft.com/office/powerpoint/2010/main" val="3004937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7411" y="769058"/>
            <a:ext cx="6217666" cy="6217666"/>
          </a:xfrm>
          <a:prstGeom prst="rect">
            <a:avLst/>
          </a:prstGeom>
        </p:spPr>
      </p:pic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2270640" y="2971799"/>
            <a:ext cx="25733931" cy="2195993"/>
          </a:xfrm>
        </p:spPr>
        <p:txBody>
          <a:bodyPr>
            <a:normAutofit/>
          </a:bodyPr>
          <a:lstStyle/>
          <a:p>
            <a:r>
              <a:rPr lang="pt-PT" sz="12000" b="1" dirty="0"/>
              <a:t>YOURKITCHEN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3784401" y="1257300"/>
            <a:ext cx="22706410" cy="1714499"/>
          </a:xfrm>
        </p:spPr>
        <p:txBody>
          <a:bodyPr>
            <a:normAutofit fontScale="85000" lnSpcReduction="20000"/>
          </a:bodyPr>
          <a:lstStyle/>
          <a:p>
            <a:r>
              <a:rPr lang="pt-PT" sz="6000" dirty="0"/>
              <a:t>Licenciatura em Engenharia Informática</a:t>
            </a:r>
          </a:p>
          <a:p>
            <a:r>
              <a:rPr lang="pt-PT" sz="6000" dirty="0"/>
              <a:t>Projeto em Engenharia Informática 2025/2026</a:t>
            </a:r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284" y="39620670"/>
            <a:ext cx="3842412" cy="3888155"/>
          </a:xfrm>
          <a:prstGeom prst="rect">
            <a:avLst/>
          </a:prstGeom>
        </p:spPr>
      </p:pic>
      <p:sp>
        <p:nvSpPr>
          <p:cNvPr id="10" name="Título 1"/>
          <p:cNvSpPr txBox="1">
            <a:spLocks/>
          </p:cNvSpPr>
          <p:nvPr/>
        </p:nvSpPr>
        <p:spPr>
          <a:xfrm>
            <a:off x="2270639" y="4009315"/>
            <a:ext cx="25733931" cy="219599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30274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1986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PT" sz="5400" b="1" dirty="0"/>
              <a:t>POS, KDS e BackOffice</a:t>
            </a:r>
          </a:p>
        </p:txBody>
      </p:sp>
      <p:sp>
        <p:nvSpPr>
          <p:cNvPr id="11" name="CaixaDeTexto 10"/>
          <p:cNvSpPr txBox="1"/>
          <p:nvPr/>
        </p:nvSpPr>
        <p:spPr>
          <a:xfrm>
            <a:off x="10365047" y="40945730"/>
            <a:ext cx="9545114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PT" sz="4000" dirty="0"/>
              <a:t>Escola de Ciências e Tecnologia</a:t>
            </a:r>
          </a:p>
          <a:p>
            <a:r>
              <a:rPr lang="pt-PT" sz="4000" dirty="0"/>
              <a:t>Universidade de Trás os Montes e Alto Douro</a:t>
            </a:r>
          </a:p>
        </p:txBody>
      </p:sp>
      <p:sp>
        <p:nvSpPr>
          <p:cNvPr id="12" name="Subtítulo 2"/>
          <p:cNvSpPr txBox="1">
            <a:spLocks/>
          </p:cNvSpPr>
          <p:nvPr/>
        </p:nvSpPr>
        <p:spPr>
          <a:xfrm>
            <a:off x="3784401" y="6986724"/>
            <a:ext cx="22706410" cy="17144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3027487" rtl="0" eaLnBrk="1" latinLnBrk="0" hangingPunct="1">
              <a:lnSpc>
                <a:spcPct val="90000"/>
              </a:lnSpc>
              <a:spcBef>
                <a:spcPts val="3311"/>
              </a:spcBef>
              <a:buFont typeface="Arial" panose="020B0604020202020204" pitchFamily="34" charset="0"/>
              <a:buNone/>
              <a:defRPr sz="79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513743" indent="0" algn="ctr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662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027487" indent="0" algn="ctr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41230" indent="0" algn="ctr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52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54974" indent="0" algn="ctr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52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568717" indent="0" algn="ctr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52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082461" indent="0" algn="ctr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52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0596204" indent="0" algn="ctr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52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2109948" indent="0" algn="ctr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sz="52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PT" sz="6000"/>
              <a:t>Jorge Teixeira (al81547)</a:t>
            </a:r>
            <a:endParaRPr lang="pt-PT" sz="6000" dirty="0"/>
          </a:p>
          <a:p>
            <a:endParaRPr lang="pt-PT" sz="6000" dirty="0"/>
          </a:p>
        </p:txBody>
      </p:sp>
      <p:sp>
        <p:nvSpPr>
          <p:cNvPr id="13" name="CaixaDeTexto 12"/>
          <p:cNvSpPr txBox="1"/>
          <p:nvPr/>
        </p:nvSpPr>
        <p:spPr>
          <a:xfrm>
            <a:off x="1617481" y="9326880"/>
            <a:ext cx="12344400" cy="2760242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600" b="1" dirty="0" err="1">
                <a:solidFill>
                  <a:srgbClr val="0F5366"/>
                </a:solidFill>
              </a:rPr>
              <a:t>Introdução</a:t>
            </a:r>
            <a:endParaRPr sz="4600" b="1" dirty="0">
              <a:solidFill>
                <a:srgbClr val="0F5366"/>
              </a:solidFill>
            </a:endParaRP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3500" b="0" dirty="0">
                <a:solidFill>
                  <a:srgbClr val="1A1A1A"/>
                </a:solidFill>
              </a:rPr>
              <a:t>A </a:t>
            </a:r>
            <a:r>
              <a:rPr sz="3500" b="0" dirty="0" err="1">
                <a:solidFill>
                  <a:srgbClr val="1A1A1A"/>
                </a:solidFill>
              </a:rPr>
              <a:t>restauração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vive</a:t>
            </a:r>
            <a:r>
              <a:rPr sz="3500" b="0" dirty="0">
                <a:solidFill>
                  <a:srgbClr val="1A1A1A"/>
                </a:solidFill>
              </a:rPr>
              <a:t> de </a:t>
            </a:r>
            <a:r>
              <a:rPr sz="3500" b="0" dirty="0" err="1">
                <a:solidFill>
                  <a:srgbClr val="1A1A1A"/>
                </a:solidFill>
              </a:rPr>
              <a:t>velocidade</a:t>
            </a:r>
            <a:r>
              <a:rPr sz="3500" b="0" dirty="0">
                <a:solidFill>
                  <a:srgbClr val="1A1A1A"/>
                </a:solidFill>
              </a:rPr>
              <a:t> e de </a:t>
            </a:r>
            <a:r>
              <a:rPr sz="3500" b="0" dirty="0" err="1">
                <a:solidFill>
                  <a:srgbClr val="1A1A1A"/>
                </a:solidFill>
              </a:rPr>
              <a:t>comunicação</a:t>
            </a:r>
            <a:r>
              <a:rPr sz="3500" b="0" dirty="0">
                <a:solidFill>
                  <a:srgbClr val="1A1A1A"/>
                </a:solidFill>
              </a:rPr>
              <a:t> entre a sala e a </a:t>
            </a:r>
            <a:r>
              <a:rPr sz="3500" b="0" dirty="0" err="1">
                <a:solidFill>
                  <a:srgbClr val="1A1A1A"/>
                </a:solidFill>
              </a:rPr>
              <a:t>cozinha</a:t>
            </a:r>
            <a:r>
              <a:rPr sz="3500" b="0" dirty="0">
                <a:solidFill>
                  <a:srgbClr val="1A1A1A"/>
                </a:solidFill>
              </a:rPr>
              <a:t>. O </a:t>
            </a:r>
            <a:r>
              <a:rPr sz="3500" b="0" dirty="0" err="1">
                <a:solidFill>
                  <a:srgbClr val="1A1A1A"/>
                </a:solidFill>
              </a:rPr>
              <a:t>YourKitchen</a:t>
            </a:r>
            <a:r>
              <a:rPr sz="3500" b="0" dirty="0">
                <a:solidFill>
                  <a:srgbClr val="1A1A1A"/>
                </a:solidFill>
              </a:rPr>
              <a:t> é </a:t>
            </a:r>
            <a:r>
              <a:rPr sz="3500" b="0" dirty="0" err="1">
                <a:solidFill>
                  <a:srgbClr val="1A1A1A"/>
                </a:solidFill>
              </a:rPr>
              <a:t>uma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solução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multiplataforma</a:t>
            </a:r>
            <a:r>
              <a:rPr sz="3500" b="0" dirty="0">
                <a:solidFill>
                  <a:srgbClr val="1A1A1A"/>
                </a:solidFill>
              </a:rPr>
              <a:t> de </a:t>
            </a:r>
            <a:r>
              <a:rPr sz="3500" b="0" dirty="0" err="1">
                <a:solidFill>
                  <a:srgbClr val="1A1A1A"/>
                </a:solidFill>
              </a:rPr>
              <a:t>gestão</a:t>
            </a:r>
            <a:r>
              <a:rPr sz="3500" b="0" dirty="0">
                <a:solidFill>
                  <a:srgbClr val="1A1A1A"/>
                </a:solidFill>
              </a:rPr>
              <a:t> para </a:t>
            </a:r>
            <a:r>
              <a:rPr sz="3500" b="0" dirty="0" err="1">
                <a:solidFill>
                  <a:srgbClr val="1A1A1A"/>
                </a:solidFill>
              </a:rPr>
              <a:t>restauração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que</a:t>
            </a:r>
            <a:r>
              <a:rPr sz="3500" b="0" dirty="0">
                <a:solidFill>
                  <a:srgbClr val="1A1A1A"/>
                </a:solidFill>
              </a:rPr>
              <a:t> integra, num </a:t>
            </a:r>
            <a:r>
              <a:rPr sz="3500" b="0" dirty="0" err="1">
                <a:solidFill>
                  <a:srgbClr val="1A1A1A"/>
                </a:solidFill>
              </a:rPr>
              <a:t>só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ecossistema</a:t>
            </a:r>
            <a:r>
              <a:rPr sz="3500" b="0" dirty="0">
                <a:solidFill>
                  <a:srgbClr val="1A1A1A"/>
                </a:solidFill>
              </a:rPr>
              <a:t> web, um Ponto de Venda (POS), um Kitchen Display System (KDS) e um Backoffice de </a:t>
            </a:r>
            <a:r>
              <a:rPr sz="3500" b="0" dirty="0" err="1">
                <a:solidFill>
                  <a:srgbClr val="1A1A1A"/>
                </a:solidFill>
              </a:rPr>
              <a:t>gestão</a:t>
            </a:r>
            <a:r>
              <a:rPr sz="3500" b="0" dirty="0">
                <a:solidFill>
                  <a:srgbClr val="1A1A1A"/>
                </a:solidFill>
              </a:rPr>
              <a:t>.</a:t>
            </a:r>
          </a:p>
          <a:p>
            <a:pPr algn="l">
              <a:spcBef>
                <a:spcPts val="2000"/>
              </a:spcBef>
              <a:spcAft>
                <a:spcPts val="800"/>
              </a:spcAft>
            </a:pPr>
            <a:r>
              <a:rPr sz="4600" b="1" dirty="0" err="1">
                <a:solidFill>
                  <a:srgbClr val="0F5366"/>
                </a:solidFill>
              </a:rPr>
              <a:t>Objetivos</a:t>
            </a:r>
            <a:endParaRPr sz="4600" b="1" dirty="0">
              <a:solidFill>
                <a:srgbClr val="0F5366"/>
              </a:solidFill>
            </a:endParaRP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3500" b="0" dirty="0">
                <a:solidFill>
                  <a:srgbClr val="1A1A1A"/>
                </a:solidFill>
              </a:rPr>
              <a:t>•  </a:t>
            </a:r>
            <a:r>
              <a:rPr sz="3500" b="0" dirty="0" err="1">
                <a:solidFill>
                  <a:srgbClr val="1A1A1A"/>
                </a:solidFill>
              </a:rPr>
              <a:t>Integrar</a:t>
            </a:r>
            <a:r>
              <a:rPr sz="3500" b="0" dirty="0">
                <a:solidFill>
                  <a:srgbClr val="1A1A1A"/>
                </a:solidFill>
              </a:rPr>
              <a:t> POS, KDS e Backoffice </a:t>
            </a:r>
            <a:r>
              <a:rPr sz="3500" b="0" dirty="0" err="1">
                <a:solidFill>
                  <a:srgbClr val="1A1A1A"/>
                </a:solidFill>
              </a:rPr>
              <a:t>numa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única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plataforma</a:t>
            </a:r>
            <a:r>
              <a:rPr sz="3500" b="0" dirty="0">
                <a:solidFill>
                  <a:srgbClr val="1A1A1A"/>
                </a:solidFill>
              </a:rPr>
              <a:t> web;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3500" b="0" dirty="0">
                <a:solidFill>
                  <a:srgbClr val="1A1A1A"/>
                </a:solidFill>
              </a:rPr>
              <a:t>•  </a:t>
            </a:r>
            <a:r>
              <a:rPr sz="3500" b="0" dirty="0" err="1">
                <a:solidFill>
                  <a:srgbClr val="1A1A1A"/>
                </a:solidFill>
              </a:rPr>
              <a:t>Sincronizar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pedidos</a:t>
            </a:r>
            <a:r>
              <a:rPr sz="3500" b="0" dirty="0">
                <a:solidFill>
                  <a:srgbClr val="1A1A1A"/>
                </a:solidFill>
              </a:rPr>
              <a:t> entre sala e </a:t>
            </a:r>
            <a:r>
              <a:rPr sz="3500" b="0" dirty="0" err="1">
                <a:solidFill>
                  <a:srgbClr val="1A1A1A"/>
                </a:solidFill>
              </a:rPr>
              <a:t>cozinha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em</a:t>
            </a:r>
            <a:r>
              <a:rPr sz="3500" b="0" dirty="0">
                <a:solidFill>
                  <a:srgbClr val="1A1A1A"/>
                </a:solidFill>
              </a:rPr>
              <a:t> tempo real (</a:t>
            </a:r>
            <a:r>
              <a:rPr sz="3500" b="0" dirty="0" err="1">
                <a:solidFill>
                  <a:srgbClr val="1A1A1A"/>
                </a:solidFill>
              </a:rPr>
              <a:t>WebSockets</a:t>
            </a:r>
            <a:r>
              <a:rPr sz="3500" b="0" dirty="0">
                <a:solidFill>
                  <a:srgbClr val="1A1A1A"/>
                </a:solidFill>
              </a:rPr>
              <a:t>);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3500" b="0" dirty="0">
                <a:solidFill>
                  <a:srgbClr val="1A1A1A"/>
                </a:solidFill>
              </a:rPr>
              <a:t>•  </a:t>
            </a:r>
            <a:r>
              <a:rPr sz="3500" b="0" dirty="0" err="1">
                <a:solidFill>
                  <a:srgbClr val="1A1A1A"/>
                </a:solidFill>
              </a:rPr>
              <a:t>Gerir</a:t>
            </a:r>
            <a:r>
              <a:rPr sz="3500" b="0" dirty="0">
                <a:solidFill>
                  <a:srgbClr val="1A1A1A"/>
                </a:solidFill>
              </a:rPr>
              <a:t> mesas, </a:t>
            </a:r>
            <a:r>
              <a:rPr sz="3500" b="0" dirty="0" err="1">
                <a:solidFill>
                  <a:srgbClr val="1A1A1A"/>
                </a:solidFill>
              </a:rPr>
              <a:t>pedidos</a:t>
            </a:r>
            <a:r>
              <a:rPr sz="3500" b="0" dirty="0">
                <a:solidFill>
                  <a:srgbClr val="1A1A1A"/>
                </a:solidFill>
              </a:rPr>
              <a:t>, </a:t>
            </a:r>
            <a:r>
              <a:rPr sz="3500" b="0" dirty="0" err="1">
                <a:solidFill>
                  <a:srgbClr val="1A1A1A"/>
                </a:solidFill>
              </a:rPr>
              <a:t>pagamentos</a:t>
            </a:r>
            <a:r>
              <a:rPr sz="3500" b="0" dirty="0">
                <a:solidFill>
                  <a:srgbClr val="1A1A1A"/>
                </a:solidFill>
              </a:rPr>
              <a:t>, stocks e </a:t>
            </a:r>
            <a:r>
              <a:rPr sz="3500" b="0" dirty="0" err="1">
                <a:solidFill>
                  <a:srgbClr val="1A1A1A"/>
                </a:solidFill>
              </a:rPr>
              <a:t>relatórios</a:t>
            </a:r>
            <a:r>
              <a:rPr sz="3500" b="0" dirty="0">
                <a:solidFill>
                  <a:srgbClr val="1A1A1A"/>
                </a:solidFill>
              </a:rPr>
              <a:t>;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3500" b="0" dirty="0">
                <a:solidFill>
                  <a:srgbClr val="1A1A1A"/>
                </a:solidFill>
              </a:rPr>
              <a:t>•  </a:t>
            </a:r>
            <a:r>
              <a:rPr sz="3500" b="0" dirty="0" err="1">
                <a:solidFill>
                  <a:srgbClr val="1A1A1A"/>
                </a:solidFill>
              </a:rPr>
              <a:t>Operar</a:t>
            </a:r>
            <a:r>
              <a:rPr sz="3500" b="0" dirty="0">
                <a:solidFill>
                  <a:srgbClr val="1A1A1A"/>
                </a:solidFill>
              </a:rPr>
              <a:t> a </a:t>
            </a:r>
            <a:r>
              <a:rPr sz="3500" b="0" dirty="0" err="1">
                <a:solidFill>
                  <a:srgbClr val="1A1A1A"/>
                </a:solidFill>
              </a:rPr>
              <a:t>custo</a:t>
            </a:r>
            <a:r>
              <a:rPr sz="3500" b="0" dirty="0">
                <a:solidFill>
                  <a:srgbClr val="1A1A1A"/>
                </a:solidFill>
              </a:rPr>
              <a:t> zero, </a:t>
            </a:r>
            <a:r>
              <a:rPr sz="3500" b="0" dirty="0" err="1">
                <a:solidFill>
                  <a:srgbClr val="1A1A1A"/>
                </a:solidFill>
              </a:rPr>
              <a:t>sobre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serviços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gratuitos</a:t>
            </a:r>
            <a:r>
              <a:rPr sz="3500" b="0" dirty="0">
                <a:solidFill>
                  <a:srgbClr val="1A1A1A"/>
                </a:solidFill>
              </a:rPr>
              <a:t>.</a:t>
            </a:r>
          </a:p>
          <a:p>
            <a:pPr algn="l">
              <a:spcBef>
                <a:spcPts val="2000"/>
              </a:spcBef>
              <a:spcAft>
                <a:spcPts val="800"/>
              </a:spcAft>
            </a:pPr>
            <a:r>
              <a:rPr sz="4600" b="1" dirty="0" err="1">
                <a:solidFill>
                  <a:srgbClr val="0F5366"/>
                </a:solidFill>
              </a:rPr>
              <a:t>Arquitetura</a:t>
            </a:r>
            <a:r>
              <a:rPr sz="4600" b="1" dirty="0">
                <a:solidFill>
                  <a:srgbClr val="0F5366"/>
                </a:solidFill>
              </a:rPr>
              <a:t> e </a:t>
            </a:r>
            <a:r>
              <a:rPr sz="4600" b="1" dirty="0" err="1">
                <a:solidFill>
                  <a:srgbClr val="0F5366"/>
                </a:solidFill>
              </a:rPr>
              <a:t>Tecnologias</a:t>
            </a:r>
            <a:endParaRPr sz="4600" b="1" dirty="0">
              <a:solidFill>
                <a:srgbClr val="0F5366"/>
              </a:solidFill>
            </a:endParaRP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3500" b="0" dirty="0" err="1">
                <a:solidFill>
                  <a:srgbClr val="1A1A1A"/>
                </a:solidFill>
              </a:rPr>
              <a:t>Construído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em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1" dirty="0">
                <a:solidFill>
                  <a:srgbClr val="1A1A1A"/>
                </a:solidFill>
              </a:rPr>
              <a:t>Next.js</a:t>
            </a:r>
            <a:r>
              <a:rPr sz="3500" b="0" dirty="0">
                <a:solidFill>
                  <a:srgbClr val="1A1A1A"/>
                </a:solidFill>
              </a:rPr>
              <a:t> (full-stack), com base de dados </a:t>
            </a:r>
            <a:r>
              <a:rPr sz="3500" b="1" dirty="0">
                <a:solidFill>
                  <a:srgbClr val="1A1A1A"/>
                </a:solidFill>
              </a:rPr>
              <a:t>PostgreSQL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gerida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pelo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1" dirty="0" err="1">
                <a:solidFill>
                  <a:srgbClr val="1A1A1A"/>
                </a:solidFill>
              </a:rPr>
              <a:t>Supabase</a:t>
            </a:r>
            <a:r>
              <a:rPr sz="3500" b="0" dirty="0">
                <a:solidFill>
                  <a:srgbClr val="1A1A1A"/>
                </a:solidFill>
              </a:rPr>
              <a:t> e </a:t>
            </a:r>
            <a:r>
              <a:rPr sz="3500" b="0" dirty="0" err="1">
                <a:solidFill>
                  <a:srgbClr val="1A1A1A"/>
                </a:solidFill>
              </a:rPr>
              <a:t>publicação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na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1" dirty="0" err="1">
                <a:solidFill>
                  <a:srgbClr val="1A1A1A"/>
                </a:solidFill>
              </a:rPr>
              <a:t>Vercel</a:t>
            </a:r>
            <a:r>
              <a:rPr sz="3500" b="0" dirty="0">
                <a:solidFill>
                  <a:srgbClr val="1A1A1A"/>
                </a:solidFill>
              </a:rPr>
              <a:t>. A </a:t>
            </a:r>
            <a:r>
              <a:rPr sz="3500" b="0" dirty="0" err="1">
                <a:solidFill>
                  <a:srgbClr val="1A1A1A"/>
                </a:solidFill>
              </a:rPr>
              <a:t>comunicação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em</a:t>
            </a:r>
            <a:r>
              <a:rPr sz="3500" b="0" dirty="0">
                <a:solidFill>
                  <a:srgbClr val="1A1A1A"/>
                </a:solidFill>
              </a:rPr>
              <a:t> tempo real </a:t>
            </a:r>
            <a:r>
              <a:rPr sz="3500" b="0" dirty="0" err="1">
                <a:solidFill>
                  <a:srgbClr val="1A1A1A"/>
                </a:solidFill>
              </a:rPr>
              <a:t>assenta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em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WebSockets</a:t>
            </a:r>
            <a:r>
              <a:rPr sz="3500" b="0" dirty="0">
                <a:solidFill>
                  <a:srgbClr val="1A1A1A"/>
                </a:solidFill>
              </a:rPr>
              <a:t>; a </a:t>
            </a:r>
            <a:r>
              <a:rPr sz="3500" b="0" dirty="0" err="1">
                <a:solidFill>
                  <a:srgbClr val="1A1A1A"/>
                </a:solidFill>
              </a:rPr>
              <a:t>autenticação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combina</a:t>
            </a:r>
            <a:r>
              <a:rPr sz="3500" b="0" dirty="0">
                <a:solidFill>
                  <a:srgbClr val="1A1A1A"/>
                </a:solidFill>
              </a:rPr>
              <a:t> PIN </a:t>
            </a:r>
            <a:r>
              <a:rPr sz="3500" b="0" dirty="0" err="1">
                <a:solidFill>
                  <a:srgbClr val="1A1A1A"/>
                </a:solidFill>
              </a:rPr>
              <a:t>numérico</a:t>
            </a:r>
            <a:r>
              <a:rPr sz="3500" b="0" dirty="0">
                <a:solidFill>
                  <a:srgbClr val="1A1A1A"/>
                </a:solidFill>
              </a:rPr>
              <a:t> (POS/KDS) e email/</a:t>
            </a:r>
            <a:r>
              <a:rPr sz="3500" b="0" dirty="0" err="1">
                <a:solidFill>
                  <a:srgbClr val="1A1A1A"/>
                </a:solidFill>
              </a:rPr>
              <a:t>palavra</a:t>
            </a:r>
            <a:r>
              <a:rPr sz="3500" b="0" dirty="0">
                <a:solidFill>
                  <a:srgbClr val="1A1A1A"/>
                </a:solidFill>
              </a:rPr>
              <a:t>-passe (Backoffice), com </a:t>
            </a:r>
            <a:r>
              <a:rPr sz="3500" b="0" dirty="0" err="1">
                <a:solidFill>
                  <a:srgbClr val="1A1A1A"/>
                </a:solidFill>
              </a:rPr>
              <a:t>sessões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assinadas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por</a:t>
            </a:r>
            <a:r>
              <a:rPr sz="3500" b="0" dirty="0">
                <a:solidFill>
                  <a:srgbClr val="1A1A1A"/>
                </a:solidFill>
              </a:rPr>
              <a:t> JWT e </a:t>
            </a:r>
            <a:r>
              <a:rPr sz="3500" b="0" dirty="0" err="1">
                <a:solidFill>
                  <a:srgbClr val="1A1A1A"/>
                </a:solidFill>
              </a:rPr>
              <a:t>palavras</a:t>
            </a:r>
            <a:r>
              <a:rPr sz="3500" b="0" dirty="0">
                <a:solidFill>
                  <a:srgbClr val="1A1A1A"/>
                </a:solidFill>
              </a:rPr>
              <a:t>-passe </a:t>
            </a:r>
            <a:r>
              <a:rPr sz="3500" b="0" dirty="0" err="1">
                <a:solidFill>
                  <a:srgbClr val="1A1A1A"/>
                </a:solidFill>
              </a:rPr>
              <a:t>protegidas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por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bcrypt</a:t>
            </a:r>
            <a:r>
              <a:rPr sz="3500" b="0" dirty="0">
                <a:solidFill>
                  <a:srgbClr val="1A1A1A"/>
                </a:solidFill>
              </a:rPr>
              <a:t>.</a:t>
            </a:r>
          </a:p>
          <a:p>
            <a:pPr algn="l">
              <a:spcBef>
                <a:spcPts val="2000"/>
              </a:spcBef>
              <a:spcAft>
                <a:spcPts val="800"/>
              </a:spcAft>
            </a:pPr>
            <a:endParaRPr lang="en-US" sz="4600" b="1" dirty="0">
              <a:solidFill>
                <a:srgbClr val="0F5366"/>
              </a:solidFill>
            </a:endParaRPr>
          </a:p>
          <a:p>
            <a:pPr algn="l">
              <a:spcBef>
                <a:spcPts val="2000"/>
              </a:spcBef>
              <a:spcAft>
                <a:spcPts val="800"/>
              </a:spcAft>
            </a:pPr>
            <a:endParaRPr lang="en-US" sz="4600" b="1" dirty="0">
              <a:solidFill>
                <a:srgbClr val="0F5366"/>
              </a:solidFill>
            </a:endParaRPr>
          </a:p>
          <a:p>
            <a:pPr algn="l">
              <a:spcBef>
                <a:spcPts val="2000"/>
              </a:spcBef>
              <a:spcAft>
                <a:spcPts val="800"/>
              </a:spcAft>
            </a:pPr>
            <a:endParaRPr lang="en-US" sz="4600" b="1" dirty="0">
              <a:solidFill>
                <a:srgbClr val="0F5366"/>
              </a:solidFill>
            </a:endParaRPr>
          </a:p>
          <a:p>
            <a:pPr algn="l">
              <a:spcBef>
                <a:spcPts val="2000"/>
              </a:spcBef>
              <a:spcAft>
                <a:spcPts val="800"/>
              </a:spcAft>
            </a:pPr>
            <a:endParaRPr lang="en-US" sz="4600" b="1" dirty="0">
              <a:solidFill>
                <a:srgbClr val="0F5366"/>
              </a:solidFill>
            </a:endParaRPr>
          </a:p>
          <a:p>
            <a:pPr algn="l">
              <a:spcBef>
                <a:spcPts val="2000"/>
              </a:spcBef>
              <a:spcAft>
                <a:spcPts val="800"/>
              </a:spcAft>
            </a:pPr>
            <a:endParaRPr lang="en-US" sz="4600" b="1" dirty="0">
              <a:solidFill>
                <a:srgbClr val="0F5366"/>
              </a:solidFill>
            </a:endParaRPr>
          </a:p>
          <a:p>
            <a:pPr algn="l">
              <a:spcBef>
                <a:spcPts val="2000"/>
              </a:spcBef>
              <a:spcAft>
                <a:spcPts val="800"/>
              </a:spcAft>
            </a:pPr>
            <a:endParaRPr lang="en-US" sz="4600" b="1" dirty="0">
              <a:solidFill>
                <a:srgbClr val="0F5366"/>
              </a:solidFill>
            </a:endParaRPr>
          </a:p>
          <a:p>
            <a:pPr algn="l">
              <a:spcBef>
                <a:spcPts val="2000"/>
              </a:spcBef>
              <a:spcAft>
                <a:spcPts val="800"/>
              </a:spcAft>
            </a:pPr>
            <a:endParaRPr lang="en-US" sz="4600" b="1" dirty="0">
              <a:solidFill>
                <a:srgbClr val="0F5366"/>
              </a:solidFill>
            </a:endParaRPr>
          </a:p>
          <a:p>
            <a:pPr algn="l">
              <a:spcBef>
                <a:spcPts val="2000"/>
              </a:spcBef>
              <a:spcAft>
                <a:spcPts val="800"/>
              </a:spcAft>
            </a:pPr>
            <a:endParaRPr lang="en-US" sz="4600" b="1" dirty="0">
              <a:solidFill>
                <a:srgbClr val="0F5366"/>
              </a:solidFill>
            </a:endParaRPr>
          </a:p>
          <a:p>
            <a:pPr algn="l">
              <a:spcBef>
                <a:spcPts val="2000"/>
              </a:spcBef>
              <a:spcAft>
                <a:spcPts val="800"/>
              </a:spcAft>
            </a:pPr>
            <a:endParaRPr lang="en-US" sz="4600" b="1" dirty="0">
              <a:solidFill>
                <a:srgbClr val="0F5366"/>
              </a:solidFill>
            </a:endParaRPr>
          </a:p>
          <a:p>
            <a:pPr algn="l">
              <a:spcBef>
                <a:spcPts val="2000"/>
              </a:spcBef>
              <a:spcAft>
                <a:spcPts val="800"/>
              </a:spcAft>
            </a:pPr>
            <a:endParaRPr lang="en-US" sz="4600" b="1" dirty="0">
              <a:solidFill>
                <a:srgbClr val="0F5366"/>
              </a:solidFill>
            </a:endParaRPr>
          </a:p>
          <a:p>
            <a:pPr algn="l">
              <a:spcBef>
                <a:spcPts val="2000"/>
              </a:spcBef>
              <a:spcAft>
                <a:spcPts val="800"/>
              </a:spcAft>
            </a:pPr>
            <a:endParaRPr lang="en-US" sz="4600" b="1" dirty="0">
              <a:solidFill>
                <a:srgbClr val="0F5366"/>
              </a:solidFill>
            </a:endParaRPr>
          </a:p>
          <a:p>
            <a:pPr algn="l">
              <a:spcBef>
                <a:spcPts val="2000"/>
              </a:spcBef>
              <a:spcAft>
                <a:spcPts val="800"/>
              </a:spcAft>
            </a:pPr>
            <a:endParaRPr lang="en-US" sz="4600" b="1" dirty="0">
              <a:solidFill>
                <a:srgbClr val="0F5366"/>
              </a:solidFill>
            </a:endParaRPr>
          </a:p>
          <a:p>
            <a:pPr algn="l">
              <a:spcBef>
                <a:spcPts val="2000"/>
              </a:spcBef>
              <a:spcAft>
                <a:spcPts val="800"/>
              </a:spcAft>
            </a:pPr>
            <a:r>
              <a:rPr lang="en-US" sz="4600" b="1" dirty="0" err="1">
                <a:solidFill>
                  <a:srgbClr val="0F5366"/>
                </a:solidFill>
              </a:rPr>
              <a:t>Metodologia</a:t>
            </a:r>
            <a:r>
              <a:rPr lang="en-US" sz="4600" b="1" dirty="0">
                <a:solidFill>
                  <a:srgbClr val="0F5366"/>
                </a:solidFill>
              </a:rPr>
              <a:t> — Vibe Coding</a:t>
            </a:r>
            <a:endParaRPr sz="4600" b="1" dirty="0">
              <a:solidFill>
                <a:srgbClr val="0F5366"/>
              </a:solidFill>
            </a:endParaRP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3500" b="0" dirty="0">
                <a:solidFill>
                  <a:srgbClr val="1A1A1A"/>
                </a:solidFill>
              </a:rPr>
              <a:t>A </a:t>
            </a:r>
            <a:r>
              <a:rPr sz="3500" b="0" dirty="0" err="1">
                <a:solidFill>
                  <a:srgbClr val="1A1A1A"/>
                </a:solidFill>
              </a:rPr>
              <a:t>modelação</a:t>
            </a:r>
            <a:r>
              <a:rPr sz="3500" b="0" dirty="0">
                <a:solidFill>
                  <a:srgbClr val="1A1A1A"/>
                </a:solidFill>
              </a:rPr>
              <a:t> UML (</a:t>
            </a:r>
            <a:r>
              <a:rPr sz="3500" b="0" dirty="0" err="1">
                <a:solidFill>
                  <a:srgbClr val="1A1A1A"/>
                </a:solidFill>
              </a:rPr>
              <a:t>casos</a:t>
            </a:r>
            <a:r>
              <a:rPr sz="3500" b="0" dirty="0">
                <a:solidFill>
                  <a:srgbClr val="1A1A1A"/>
                </a:solidFill>
              </a:rPr>
              <a:t> de </a:t>
            </a:r>
            <a:r>
              <a:rPr sz="3500" b="0" dirty="0" err="1">
                <a:solidFill>
                  <a:srgbClr val="1A1A1A"/>
                </a:solidFill>
              </a:rPr>
              <a:t>uso</a:t>
            </a:r>
            <a:r>
              <a:rPr sz="3500" b="0" dirty="0">
                <a:solidFill>
                  <a:srgbClr val="1A1A1A"/>
                </a:solidFill>
              </a:rPr>
              <a:t>, </a:t>
            </a:r>
            <a:r>
              <a:rPr sz="3500" b="0" dirty="0" err="1">
                <a:solidFill>
                  <a:srgbClr val="1A1A1A"/>
                </a:solidFill>
              </a:rPr>
              <a:t>atividade</a:t>
            </a:r>
            <a:r>
              <a:rPr sz="3500" b="0" dirty="0">
                <a:solidFill>
                  <a:srgbClr val="1A1A1A"/>
                </a:solidFill>
              </a:rPr>
              <a:t>, </a:t>
            </a:r>
            <a:r>
              <a:rPr sz="3500" b="0" dirty="0" err="1">
                <a:solidFill>
                  <a:srgbClr val="1A1A1A"/>
                </a:solidFill>
              </a:rPr>
              <a:t>estado</a:t>
            </a:r>
            <a:r>
              <a:rPr sz="3500" b="0" dirty="0">
                <a:solidFill>
                  <a:srgbClr val="1A1A1A"/>
                </a:solidFill>
              </a:rPr>
              <a:t>, classes e DER) </a:t>
            </a:r>
            <a:r>
              <a:rPr sz="3500" b="0" dirty="0" err="1">
                <a:solidFill>
                  <a:srgbClr val="1A1A1A"/>
                </a:solidFill>
              </a:rPr>
              <a:t>serviu</a:t>
            </a:r>
            <a:r>
              <a:rPr sz="3500" b="0" dirty="0">
                <a:solidFill>
                  <a:srgbClr val="1A1A1A"/>
                </a:solidFill>
              </a:rPr>
              <a:t> de </a:t>
            </a:r>
            <a:r>
              <a:rPr sz="3500" b="0" dirty="0" err="1">
                <a:solidFill>
                  <a:srgbClr val="1A1A1A"/>
                </a:solidFill>
              </a:rPr>
              <a:t>contexto</a:t>
            </a:r>
            <a:r>
              <a:rPr sz="3500" b="0" dirty="0">
                <a:solidFill>
                  <a:srgbClr val="1A1A1A"/>
                </a:solidFill>
              </a:rPr>
              <a:t> para a </a:t>
            </a:r>
            <a:r>
              <a:rPr sz="3500" b="0" dirty="0" err="1">
                <a:solidFill>
                  <a:srgbClr val="1A1A1A"/>
                </a:solidFill>
              </a:rPr>
              <a:t>geração</a:t>
            </a:r>
            <a:r>
              <a:rPr sz="3500" b="0" dirty="0">
                <a:solidFill>
                  <a:srgbClr val="1A1A1A"/>
                </a:solidFill>
              </a:rPr>
              <a:t> de </a:t>
            </a:r>
            <a:r>
              <a:rPr sz="3500" b="0" dirty="0" err="1">
                <a:solidFill>
                  <a:srgbClr val="1A1A1A"/>
                </a:solidFill>
              </a:rPr>
              <a:t>código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assistida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por</a:t>
            </a:r>
            <a:r>
              <a:rPr lang="en-US" sz="3500" b="0" dirty="0">
                <a:solidFill>
                  <a:srgbClr val="1A1A1A"/>
                </a:solidFill>
              </a:rPr>
              <a:t> </a:t>
            </a:r>
            <a:r>
              <a:rPr lang="en-US" sz="3500" b="0" dirty="0" err="1">
                <a:solidFill>
                  <a:srgbClr val="1A1A1A"/>
                </a:solidFill>
              </a:rPr>
              <a:t>Inteligência</a:t>
            </a:r>
            <a:r>
              <a:rPr lang="en-US" sz="3500" b="0" dirty="0">
                <a:solidFill>
                  <a:srgbClr val="1A1A1A"/>
                </a:solidFill>
              </a:rPr>
              <a:t> artificial, tais </a:t>
            </a:r>
            <a:r>
              <a:rPr lang="en-US" sz="3500" b="0" dirty="0" err="1">
                <a:solidFill>
                  <a:srgbClr val="1A1A1A"/>
                </a:solidFill>
              </a:rPr>
              <a:t>como</a:t>
            </a:r>
            <a:r>
              <a:rPr lang="en-US" sz="3500" b="0" dirty="0">
                <a:solidFill>
                  <a:srgbClr val="1A1A1A"/>
                </a:solidFill>
              </a:rPr>
              <a:t>,</a:t>
            </a:r>
            <a:r>
              <a:rPr sz="3500" b="0" dirty="0">
                <a:solidFill>
                  <a:srgbClr val="1A1A1A"/>
                </a:solidFill>
              </a:rPr>
              <a:t> Claude Code, Claude (design) e Gemini, </a:t>
            </a:r>
            <a:r>
              <a:rPr sz="3500" b="0" dirty="0" err="1">
                <a:solidFill>
                  <a:srgbClr val="1A1A1A"/>
                </a:solidFill>
              </a:rPr>
              <a:t>cabendo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ao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programador</a:t>
            </a:r>
            <a:r>
              <a:rPr sz="3500" b="0" dirty="0">
                <a:solidFill>
                  <a:srgbClr val="1A1A1A"/>
                </a:solidFill>
              </a:rPr>
              <a:t> o </a:t>
            </a:r>
            <a:r>
              <a:rPr sz="3500" b="0" dirty="0" err="1">
                <a:solidFill>
                  <a:srgbClr val="1A1A1A"/>
                </a:solidFill>
              </a:rPr>
              <a:t>papel</a:t>
            </a:r>
            <a:r>
              <a:rPr sz="3500" b="0" dirty="0">
                <a:solidFill>
                  <a:srgbClr val="1A1A1A"/>
                </a:solidFill>
              </a:rPr>
              <a:t> de </a:t>
            </a:r>
            <a:r>
              <a:rPr sz="3500" b="0" dirty="0" err="1">
                <a:solidFill>
                  <a:srgbClr val="1A1A1A"/>
                </a:solidFill>
              </a:rPr>
              <a:t>arquiteto</a:t>
            </a:r>
            <a:r>
              <a:rPr sz="3500" b="0" dirty="0">
                <a:solidFill>
                  <a:srgbClr val="1A1A1A"/>
                </a:solidFill>
              </a:rPr>
              <a:t> e revisor.</a:t>
            </a:r>
          </a:p>
        </p:txBody>
      </p:sp>
      <p:sp>
        <p:nvSpPr>
          <p:cNvPr id="14" name="CaixaDeTexto 13"/>
          <p:cNvSpPr txBox="1"/>
          <p:nvPr/>
        </p:nvSpPr>
        <p:spPr>
          <a:xfrm>
            <a:off x="16114531" y="9326880"/>
            <a:ext cx="12344400" cy="536557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600" b="1" dirty="0" err="1">
                <a:solidFill>
                  <a:srgbClr val="0F5366"/>
                </a:solidFill>
              </a:rPr>
              <a:t>Funcionalidades</a:t>
            </a:r>
            <a:endParaRPr sz="4600" b="1" dirty="0">
              <a:solidFill>
                <a:srgbClr val="0F5366"/>
              </a:solidFill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500" b="1" dirty="0">
                <a:solidFill>
                  <a:srgbClr val="1A1A1A"/>
                </a:solidFill>
              </a:rPr>
              <a:t>POS — </a:t>
            </a:r>
            <a:r>
              <a:rPr sz="3500" b="0" dirty="0" err="1">
                <a:solidFill>
                  <a:srgbClr val="1A1A1A"/>
                </a:solidFill>
              </a:rPr>
              <a:t>mapa</a:t>
            </a:r>
            <a:r>
              <a:rPr sz="3500" b="0" dirty="0">
                <a:solidFill>
                  <a:srgbClr val="1A1A1A"/>
                </a:solidFill>
              </a:rPr>
              <a:t> de mesas </a:t>
            </a:r>
            <a:r>
              <a:rPr sz="3500" b="0" dirty="0" err="1">
                <a:solidFill>
                  <a:srgbClr val="1A1A1A"/>
                </a:solidFill>
              </a:rPr>
              <a:t>por</a:t>
            </a:r>
            <a:r>
              <a:rPr sz="3500" b="0" dirty="0">
                <a:solidFill>
                  <a:srgbClr val="1A1A1A"/>
                </a:solidFill>
              </a:rPr>
              <a:t> zona, </a:t>
            </a:r>
            <a:r>
              <a:rPr sz="3500" b="0" dirty="0" err="1">
                <a:solidFill>
                  <a:srgbClr val="1A1A1A"/>
                </a:solidFill>
              </a:rPr>
              <a:t>pedidos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por</a:t>
            </a:r>
            <a:r>
              <a:rPr sz="3500" b="0" dirty="0">
                <a:solidFill>
                  <a:srgbClr val="1A1A1A"/>
                </a:solidFill>
              </a:rPr>
              <a:t> toque com </a:t>
            </a:r>
            <a:r>
              <a:rPr sz="3500" b="0" dirty="0" err="1">
                <a:solidFill>
                  <a:srgbClr val="1A1A1A"/>
                </a:solidFill>
              </a:rPr>
              <a:t>modificadores</a:t>
            </a:r>
            <a:r>
              <a:rPr sz="3500" b="0" dirty="0">
                <a:solidFill>
                  <a:srgbClr val="1A1A1A"/>
                </a:solidFill>
              </a:rPr>
              <a:t>, </a:t>
            </a:r>
            <a:r>
              <a:rPr sz="3500" b="0" dirty="0" err="1">
                <a:solidFill>
                  <a:srgbClr val="1A1A1A"/>
                </a:solidFill>
              </a:rPr>
              <a:t>envios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parciais</a:t>
            </a:r>
            <a:r>
              <a:rPr sz="3500" b="0" dirty="0">
                <a:solidFill>
                  <a:srgbClr val="1A1A1A"/>
                </a:solidFill>
              </a:rPr>
              <a:t> para a </a:t>
            </a:r>
            <a:r>
              <a:rPr sz="3500" b="0" dirty="0" err="1">
                <a:solidFill>
                  <a:srgbClr val="1A1A1A"/>
                </a:solidFill>
              </a:rPr>
              <a:t>cozinha</a:t>
            </a:r>
            <a:r>
              <a:rPr sz="3500" b="0" dirty="0">
                <a:solidFill>
                  <a:srgbClr val="1A1A1A"/>
                </a:solidFill>
              </a:rPr>
              <a:t>, </a:t>
            </a:r>
            <a:r>
              <a:rPr sz="3500" b="0" dirty="0" err="1">
                <a:solidFill>
                  <a:srgbClr val="1A1A1A"/>
                </a:solidFill>
              </a:rPr>
              <a:t>pagamentos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múltiplos</a:t>
            </a:r>
            <a:r>
              <a:rPr sz="3500" b="0" dirty="0">
                <a:solidFill>
                  <a:srgbClr val="1A1A1A"/>
                </a:solidFill>
              </a:rPr>
              <a:t> (</a:t>
            </a:r>
            <a:r>
              <a:rPr sz="3500" b="0" dirty="0" err="1">
                <a:solidFill>
                  <a:srgbClr val="1A1A1A"/>
                </a:solidFill>
              </a:rPr>
              <a:t>numerári</a:t>
            </a:r>
            <a:r>
              <a:rPr lang="en-US" sz="3500" b="0" dirty="0" err="1">
                <a:solidFill>
                  <a:srgbClr val="1A1A1A"/>
                </a:solidFill>
              </a:rPr>
              <a:t>o</a:t>
            </a:r>
            <a:r>
              <a:rPr sz="3500" b="0" dirty="0">
                <a:solidFill>
                  <a:srgbClr val="1A1A1A"/>
                </a:solidFill>
              </a:rPr>
              <a:t>, MB WAY, </a:t>
            </a:r>
            <a:r>
              <a:rPr sz="3500" b="0" dirty="0" err="1">
                <a:solidFill>
                  <a:srgbClr val="1A1A1A"/>
                </a:solidFill>
              </a:rPr>
              <a:t>multibanco</a:t>
            </a:r>
            <a:r>
              <a:rPr sz="3500" b="0">
                <a:solidFill>
                  <a:srgbClr val="1A1A1A"/>
                </a:solidFill>
              </a:rPr>
              <a:t>)</a:t>
            </a:r>
            <a:r>
              <a:rPr lang="en-US" sz="3500" b="0">
                <a:solidFill>
                  <a:srgbClr val="1A1A1A"/>
                </a:solidFill>
              </a:rPr>
              <a:t> e</a:t>
            </a:r>
            <a:r>
              <a:rPr sz="3500" b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divisão</a:t>
            </a:r>
            <a:r>
              <a:rPr sz="3500" b="0" dirty="0">
                <a:solidFill>
                  <a:srgbClr val="1A1A1A"/>
                </a:solidFill>
              </a:rPr>
              <a:t> de </a:t>
            </a:r>
            <a:r>
              <a:rPr sz="3500" b="0" dirty="0" err="1">
                <a:solidFill>
                  <a:srgbClr val="1A1A1A"/>
                </a:solidFill>
              </a:rPr>
              <a:t>conta</a:t>
            </a:r>
            <a:r>
              <a:rPr sz="3500" b="0" dirty="0">
                <a:solidFill>
                  <a:srgbClr val="1A1A1A"/>
                </a:solidFill>
              </a:rPr>
              <a:t>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500" b="1" dirty="0">
                <a:solidFill>
                  <a:srgbClr val="1A1A1A"/>
                </a:solidFill>
              </a:rPr>
              <a:t>KDS — </a:t>
            </a:r>
            <a:r>
              <a:rPr sz="3500" b="0" dirty="0">
                <a:solidFill>
                  <a:srgbClr val="1A1A1A"/>
                </a:solidFill>
              </a:rPr>
              <a:t>fila de </a:t>
            </a:r>
            <a:r>
              <a:rPr sz="3500" b="0" dirty="0" err="1">
                <a:solidFill>
                  <a:srgbClr val="1A1A1A"/>
                </a:solidFill>
              </a:rPr>
              <a:t>pedidos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em</a:t>
            </a:r>
            <a:r>
              <a:rPr sz="3500" b="0" dirty="0">
                <a:solidFill>
                  <a:srgbClr val="1A1A1A"/>
                </a:solidFill>
              </a:rPr>
              <a:t> tempo real </a:t>
            </a:r>
            <a:r>
              <a:rPr sz="3500" b="0" dirty="0" err="1">
                <a:solidFill>
                  <a:srgbClr val="1A1A1A"/>
                </a:solidFill>
              </a:rPr>
              <a:t>por</a:t>
            </a:r>
            <a:r>
              <a:rPr sz="3500" b="0" dirty="0">
                <a:solidFill>
                  <a:srgbClr val="1A1A1A"/>
                </a:solidFill>
              </a:rPr>
              <a:t> mesa e hora, </a:t>
            </a:r>
            <a:r>
              <a:rPr sz="3500" b="0" dirty="0" err="1">
                <a:solidFill>
                  <a:srgbClr val="1A1A1A"/>
                </a:solidFill>
              </a:rPr>
              <a:t>estados</a:t>
            </a:r>
            <a:r>
              <a:rPr sz="3500" b="0" dirty="0">
                <a:solidFill>
                  <a:srgbClr val="1A1A1A"/>
                </a:solidFill>
              </a:rPr>
              <a:t> de </a:t>
            </a:r>
            <a:r>
              <a:rPr sz="3500" b="0" dirty="0" err="1">
                <a:solidFill>
                  <a:srgbClr val="1A1A1A"/>
                </a:solidFill>
              </a:rPr>
              <a:t>preparação</a:t>
            </a:r>
            <a:r>
              <a:rPr sz="3500" b="0" dirty="0">
                <a:solidFill>
                  <a:srgbClr val="1A1A1A"/>
                </a:solidFill>
              </a:rPr>
              <a:t> e </a:t>
            </a:r>
            <a:r>
              <a:rPr sz="3500" b="0" dirty="0" err="1">
                <a:solidFill>
                  <a:srgbClr val="1A1A1A"/>
                </a:solidFill>
              </a:rPr>
              <a:t>temporizadores</a:t>
            </a:r>
            <a:r>
              <a:rPr sz="3500" b="0" dirty="0">
                <a:solidFill>
                  <a:srgbClr val="1A1A1A"/>
                </a:solidFill>
              </a:rPr>
              <a:t> com </a:t>
            </a:r>
            <a:r>
              <a:rPr sz="3500" b="0" dirty="0" err="1">
                <a:solidFill>
                  <a:srgbClr val="1A1A1A"/>
                </a:solidFill>
              </a:rPr>
              <a:t>alertas</a:t>
            </a:r>
            <a:r>
              <a:rPr sz="3500" b="0" dirty="0">
                <a:solidFill>
                  <a:srgbClr val="1A1A1A"/>
                </a:solidFill>
              </a:rPr>
              <a:t> de </a:t>
            </a:r>
            <a:r>
              <a:rPr sz="3500" b="0" dirty="0" err="1">
                <a:solidFill>
                  <a:srgbClr val="1A1A1A"/>
                </a:solidFill>
              </a:rPr>
              <a:t>atraso</a:t>
            </a:r>
            <a:r>
              <a:rPr sz="3500" b="0" dirty="0">
                <a:solidFill>
                  <a:srgbClr val="1A1A1A"/>
                </a:solidFill>
              </a:rPr>
              <a:t>.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3500" b="1" dirty="0">
                <a:solidFill>
                  <a:srgbClr val="1A1A1A"/>
                </a:solidFill>
              </a:rPr>
              <a:t>Backoffice — </a:t>
            </a:r>
            <a:r>
              <a:rPr sz="3500" b="0" dirty="0" err="1">
                <a:solidFill>
                  <a:srgbClr val="1A1A1A"/>
                </a:solidFill>
              </a:rPr>
              <a:t>gestão</a:t>
            </a:r>
            <a:r>
              <a:rPr sz="3500" b="0" dirty="0">
                <a:solidFill>
                  <a:srgbClr val="1A1A1A"/>
                </a:solidFill>
              </a:rPr>
              <a:t> de menus e stocks com abate </a:t>
            </a:r>
            <a:r>
              <a:rPr sz="3500" b="0" dirty="0" err="1">
                <a:solidFill>
                  <a:srgbClr val="1A1A1A"/>
                </a:solidFill>
              </a:rPr>
              <a:t>automático</a:t>
            </a:r>
            <a:r>
              <a:rPr sz="3500" b="0" dirty="0">
                <a:solidFill>
                  <a:srgbClr val="1A1A1A"/>
                </a:solidFill>
              </a:rPr>
              <a:t> de </a:t>
            </a:r>
            <a:r>
              <a:rPr sz="3500" b="0" dirty="0" err="1">
                <a:solidFill>
                  <a:srgbClr val="1A1A1A"/>
                </a:solidFill>
              </a:rPr>
              <a:t>ingredientes</a:t>
            </a:r>
            <a:r>
              <a:rPr sz="3500" b="0" dirty="0">
                <a:solidFill>
                  <a:srgbClr val="1A1A1A"/>
                </a:solidFill>
              </a:rPr>
              <a:t>, </a:t>
            </a:r>
            <a:r>
              <a:rPr sz="3500" b="0" dirty="0" err="1">
                <a:solidFill>
                  <a:srgbClr val="1A1A1A"/>
                </a:solidFill>
              </a:rPr>
              <a:t>relatórios</a:t>
            </a:r>
            <a:r>
              <a:rPr sz="3500" b="0" dirty="0">
                <a:solidFill>
                  <a:srgbClr val="1A1A1A"/>
                </a:solidFill>
              </a:rPr>
              <a:t> e KPIs, </a:t>
            </a:r>
            <a:r>
              <a:rPr sz="3500" b="0" dirty="0" err="1">
                <a:solidFill>
                  <a:srgbClr val="1A1A1A"/>
                </a:solidFill>
              </a:rPr>
              <a:t>exportação</a:t>
            </a:r>
            <a:r>
              <a:rPr sz="3500" b="0" dirty="0">
                <a:solidFill>
                  <a:srgbClr val="1A1A1A"/>
                </a:solidFill>
              </a:rPr>
              <a:t> CSV e </a:t>
            </a:r>
            <a:r>
              <a:rPr sz="3500" b="0" dirty="0" err="1">
                <a:solidFill>
                  <a:srgbClr val="1A1A1A"/>
                </a:solidFill>
              </a:rPr>
              <a:t>controlo</a:t>
            </a:r>
            <a:r>
              <a:rPr sz="3500" b="0" dirty="0">
                <a:solidFill>
                  <a:srgbClr val="1A1A1A"/>
                </a:solidFill>
              </a:rPr>
              <a:t> de </a:t>
            </a:r>
            <a:r>
              <a:rPr sz="3500" b="0" dirty="0" err="1">
                <a:solidFill>
                  <a:srgbClr val="1A1A1A"/>
                </a:solidFill>
              </a:rPr>
              <a:t>acessos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por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perfil</a:t>
            </a:r>
            <a:r>
              <a:rPr sz="3500" b="0" dirty="0">
                <a:solidFill>
                  <a:srgbClr val="1A1A1A"/>
                </a:solidFill>
              </a:rPr>
              <a:t>.</a:t>
            </a:r>
          </a:p>
        </p:txBody>
      </p:sp>
      <p:sp>
        <p:nvSpPr>
          <p:cNvPr id="15" name="CaixaDeTexto 14"/>
          <p:cNvSpPr txBox="1"/>
          <p:nvPr/>
        </p:nvSpPr>
        <p:spPr>
          <a:xfrm>
            <a:off x="16114531" y="37681678"/>
            <a:ext cx="12344400" cy="259045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dirty="0" err="1">
                <a:solidFill>
                  <a:srgbClr val="0F5366"/>
                </a:solidFill>
              </a:rPr>
              <a:t>Equipa</a:t>
            </a:r>
            <a:r>
              <a:rPr sz="4000" b="1" dirty="0">
                <a:solidFill>
                  <a:srgbClr val="0F5366"/>
                </a:solidFill>
              </a:rPr>
              <a:t> de </a:t>
            </a:r>
            <a:r>
              <a:rPr sz="4000" b="1" dirty="0" err="1">
                <a:solidFill>
                  <a:srgbClr val="0F5366"/>
                </a:solidFill>
              </a:rPr>
              <a:t>Orientação</a:t>
            </a:r>
            <a:r>
              <a:rPr sz="4000" b="1" dirty="0">
                <a:solidFill>
                  <a:srgbClr val="0F5366"/>
                </a:solidFill>
              </a:rPr>
              <a:t>: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0">
                <a:solidFill>
                  <a:srgbClr val="1A1A1A"/>
                </a:solidFill>
              </a:rPr>
              <a:t>Frederico </a:t>
            </a:r>
            <a:r>
              <a:rPr sz="3800" b="0" dirty="0">
                <a:solidFill>
                  <a:srgbClr val="1A1A1A"/>
                </a:solidFill>
              </a:rPr>
              <a:t>Branco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0" dirty="0">
                <a:solidFill>
                  <a:srgbClr val="1A1A1A"/>
                </a:solidFill>
              </a:rPr>
              <a:t>Emanuel Peres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800" b="0" dirty="0">
                <a:solidFill>
                  <a:srgbClr val="1A1A1A"/>
                </a:solidFill>
              </a:rPr>
              <a:t>Manuel Cabral</a:t>
            </a:r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0200" y="40634613"/>
            <a:ext cx="4938233" cy="163455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6093440" y="32387211"/>
            <a:ext cx="12344400" cy="422166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600" b="1" dirty="0" err="1">
                <a:solidFill>
                  <a:srgbClr val="0F5366"/>
                </a:solidFill>
              </a:rPr>
              <a:t>Resultados</a:t>
            </a:r>
            <a:r>
              <a:rPr sz="4600" b="1" dirty="0">
                <a:solidFill>
                  <a:srgbClr val="0F5366"/>
                </a:solidFill>
              </a:rPr>
              <a:t> e </a:t>
            </a:r>
            <a:r>
              <a:rPr sz="4600" b="1" dirty="0" err="1">
                <a:solidFill>
                  <a:srgbClr val="0F5366"/>
                </a:solidFill>
              </a:rPr>
              <a:t>Conclusão</a:t>
            </a:r>
            <a:endParaRPr sz="4600" b="1" dirty="0">
              <a:solidFill>
                <a:srgbClr val="0F5366"/>
              </a:solidFill>
            </a:endParaRP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500" b="0" dirty="0">
                <a:solidFill>
                  <a:srgbClr val="1A1A1A"/>
                </a:solidFill>
              </a:rPr>
              <a:t>O </a:t>
            </a:r>
            <a:r>
              <a:rPr sz="3500" b="0" dirty="0" err="1">
                <a:solidFill>
                  <a:srgbClr val="1A1A1A"/>
                </a:solidFill>
              </a:rPr>
              <a:t>YourKitchen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encontra</a:t>
            </a:r>
            <a:r>
              <a:rPr sz="3500" b="0" dirty="0">
                <a:solidFill>
                  <a:srgbClr val="1A1A1A"/>
                </a:solidFill>
              </a:rPr>
              <a:t>-se </a:t>
            </a:r>
            <a:r>
              <a:rPr sz="3500" b="0" dirty="0" err="1">
                <a:solidFill>
                  <a:srgbClr val="1A1A1A"/>
                </a:solidFill>
              </a:rPr>
              <a:t>publicado</a:t>
            </a:r>
            <a:r>
              <a:rPr sz="3500" b="0" dirty="0">
                <a:solidFill>
                  <a:srgbClr val="1A1A1A"/>
                </a:solidFill>
              </a:rPr>
              <a:t> e </a:t>
            </a:r>
            <a:r>
              <a:rPr sz="3500" b="0" dirty="0" err="1">
                <a:solidFill>
                  <a:srgbClr val="1A1A1A"/>
                </a:solidFill>
              </a:rPr>
              <a:t>operável</a:t>
            </a:r>
            <a:r>
              <a:rPr sz="3500" b="0" dirty="0">
                <a:solidFill>
                  <a:srgbClr val="1A1A1A"/>
                </a:solidFill>
              </a:rPr>
              <a:t>, com </a:t>
            </a:r>
            <a:r>
              <a:rPr lang="en-US" sz="3500" b="0" dirty="0">
                <a:solidFill>
                  <a:srgbClr val="1A1A1A"/>
                </a:solidFill>
              </a:rPr>
              <a:t>39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requisitos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funcionais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implementados</a:t>
            </a:r>
            <a:r>
              <a:rPr sz="3500" b="0" dirty="0">
                <a:solidFill>
                  <a:srgbClr val="1A1A1A"/>
                </a:solidFill>
              </a:rPr>
              <a:t>. </a:t>
            </a:r>
            <a:r>
              <a:rPr sz="3500" b="0" dirty="0" err="1">
                <a:solidFill>
                  <a:srgbClr val="1A1A1A"/>
                </a:solidFill>
              </a:rPr>
              <a:t>Demonstra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que</a:t>
            </a:r>
            <a:r>
              <a:rPr sz="3500" b="0" dirty="0">
                <a:solidFill>
                  <a:srgbClr val="1A1A1A"/>
                </a:solidFill>
              </a:rPr>
              <a:t> um </a:t>
            </a:r>
            <a:r>
              <a:rPr sz="3500" b="0" dirty="0" err="1">
                <a:solidFill>
                  <a:srgbClr val="1A1A1A"/>
                </a:solidFill>
              </a:rPr>
              <a:t>ecossistema</a:t>
            </a:r>
            <a:r>
              <a:rPr sz="3500" b="0" dirty="0">
                <a:solidFill>
                  <a:srgbClr val="1A1A1A"/>
                </a:solidFill>
              </a:rPr>
              <a:t> de </a:t>
            </a:r>
            <a:r>
              <a:rPr sz="3500" b="0" dirty="0" err="1">
                <a:solidFill>
                  <a:srgbClr val="1A1A1A"/>
                </a:solidFill>
              </a:rPr>
              <a:t>gestão</a:t>
            </a:r>
            <a:r>
              <a:rPr sz="3500" b="0" dirty="0">
                <a:solidFill>
                  <a:srgbClr val="1A1A1A"/>
                </a:solidFill>
              </a:rPr>
              <a:t> para </a:t>
            </a:r>
            <a:r>
              <a:rPr sz="3500" b="0" dirty="0" err="1">
                <a:solidFill>
                  <a:srgbClr val="1A1A1A"/>
                </a:solidFill>
              </a:rPr>
              <a:t>restauração</a:t>
            </a:r>
            <a:r>
              <a:rPr sz="3500" b="0" dirty="0">
                <a:solidFill>
                  <a:srgbClr val="1A1A1A"/>
                </a:solidFill>
              </a:rPr>
              <a:t>, web-first e </a:t>
            </a:r>
            <a:r>
              <a:rPr sz="3500" b="0" dirty="0" err="1">
                <a:solidFill>
                  <a:srgbClr val="1A1A1A"/>
                </a:solidFill>
              </a:rPr>
              <a:t>agnóstico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em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termos</a:t>
            </a:r>
            <a:r>
              <a:rPr sz="3500" b="0" dirty="0">
                <a:solidFill>
                  <a:srgbClr val="1A1A1A"/>
                </a:solidFill>
              </a:rPr>
              <a:t> de hardware, </a:t>
            </a:r>
            <a:r>
              <a:rPr sz="3500" b="0" dirty="0" err="1">
                <a:solidFill>
                  <a:srgbClr val="1A1A1A"/>
                </a:solidFill>
              </a:rPr>
              <a:t>pode</a:t>
            </a:r>
            <a:r>
              <a:rPr sz="3500" b="0" dirty="0">
                <a:solidFill>
                  <a:srgbClr val="1A1A1A"/>
                </a:solidFill>
              </a:rPr>
              <a:t> ser </a:t>
            </a:r>
            <a:r>
              <a:rPr sz="3500" b="0" dirty="0" err="1">
                <a:solidFill>
                  <a:srgbClr val="1A1A1A"/>
                </a:solidFill>
              </a:rPr>
              <a:t>construído</a:t>
            </a:r>
            <a:r>
              <a:rPr sz="3500" b="0" dirty="0">
                <a:solidFill>
                  <a:srgbClr val="1A1A1A"/>
                </a:solidFill>
              </a:rPr>
              <a:t> e </a:t>
            </a:r>
            <a:r>
              <a:rPr sz="3500" b="0" dirty="0" err="1">
                <a:solidFill>
                  <a:srgbClr val="1A1A1A"/>
                </a:solidFill>
              </a:rPr>
              <a:t>operado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por</a:t>
            </a:r>
            <a:r>
              <a:rPr sz="3500" b="0" dirty="0">
                <a:solidFill>
                  <a:srgbClr val="1A1A1A"/>
                </a:solidFill>
              </a:rPr>
              <a:t> um </a:t>
            </a:r>
            <a:r>
              <a:rPr sz="3500" b="0" dirty="0" err="1">
                <a:solidFill>
                  <a:srgbClr val="1A1A1A"/>
                </a:solidFill>
              </a:rPr>
              <a:t>único</a:t>
            </a:r>
            <a:r>
              <a:rPr sz="3500" b="0" dirty="0">
                <a:solidFill>
                  <a:srgbClr val="1A1A1A"/>
                </a:solidFill>
              </a:rPr>
              <a:t> </a:t>
            </a:r>
            <a:r>
              <a:rPr sz="3500" b="0" dirty="0" err="1">
                <a:solidFill>
                  <a:srgbClr val="1A1A1A"/>
                </a:solidFill>
              </a:rPr>
              <a:t>programador</a:t>
            </a:r>
            <a:r>
              <a:rPr sz="3500" b="0" dirty="0">
                <a:solidFill>
                  <a:srgbClr val="1A1A1A"/>
                </a:solidFill>
              </a:rPr>
              <a:t> a </a:t>
            </a:r>
            <a:r>
              <a:rPr sz="3500" b="0" dirty="0" err="1">
                <a:solidFill>
                  <a:srgbClr val="1A1A1A"/>
                </a:solidFill>
              </a:rPr>
              <a:t>custo</a:t>
            </a:r>
            <a:r>
              <a:rPr sz="3500" b="0" dirty="0">
                <a:solidFill>
                  <a:srgbClr val="1A1A1A"/>
                </a:solidFill>
              </a:rPr>
              <a:t> zero.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dirty="0" err="1">
                <a:solidFill>
                  <a:srgbClr val="0F5366"/>
                </a:solidFill>
              </a:rPr>
              <a:t>lpei-yourkitchen.vercel.app</a:t>
            </a:r>
            <a:endParaRPr sz="3400" b="1" dirty="0">
              <a:solidFill>
                <a:srgbClr val="0F5366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3A6F033-5085-A29E-834D-087BBF0F6DC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0639" y="22388838"/>
            <a:ext cx="9629282" cy="969956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9D6BEC0B-665A-502A-FD9C-C2D2C63C84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93440" y="16307066"/>
            <a:ext cx="6014339" cy="307197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5219B0A9-F2DE-F52B-D283-F3C154AFC0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600553" y="16753962"/>
            <a:ext cx="7391767" cy="2203487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42F0E490-388F-4190-3659-3584CE9004B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093440" y="19971392"/>
            <a:ext cx="13898880" cy="290122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3A79DEFF-9A43-CB43-4FBB-32F08211157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093440" y="23487255"/>
            <a:ext cx="13898880" cy="5961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340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134</TotalTime>
  <Words>399</Words>
  <Application>Microsoft Office PowerPoint</Application>
  <PresentationFormat>Custom</PresentationFormat>
  <Paragraphs>41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YOURKITCHEN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Luís Barbosa</dc:creator>
  <cp:lastModifiedBy>DTEX</cp:lastModifiedBy>
  <cp:revision>24</cp:revision>
  <dcterms:created xsi:type="dcterms:W3CDTF">2017-05-26T15:49:06Z</dcterms:created>
  <dcterms:modified xsi:type="dcterms:W3CDTF">2026-06-11T16:02:07Z</dcterms:modified>
</cp:coreProperties>
</file>